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0" d="100"/>
          <a:sy n="60" d="100"/>
        </p:scale>
        <p:origin x="1522" y="3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5053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rot="-1080000">
            <a:off x="-2011680" y="1828800"/>
            <a:ext cx="15544800" cy="3657600"/>
          </a:xfrm>
          <a:prstGeom prst="rect">
            <a:avLst/>
          </a:prstGeom>
          <a:noFill/>
          <a:ln/>
        </p:spPr>
        <p:txBody>
          <a:bodyPr wrap="square" lIns="0" tIns="0" rIns="0" bIns="0" rtlCol="0" anchor="ctr"/>
          <a:lstStyle/>
          <a:p>
            <a:pPr marL="0" indent="0" algn="ctr">
              <a:buNone/>
            </a:pPr>
            <a:r>
              <a:rPr lang="en-US" sz="26000" b="1" dirty="0">
                <a:solidFill>
                  <a:srgbClr val="232323"/>
                </a:solidFill>
                <a:latin typeface="Arial Black" pitchFamily="34" charset="0"/>
                <a:ea typeface="Arial Black" pitchFamily="34" charset="-122"/>
                <a:cs typeface="Arial Black" pitchFamily="34" charset="-120"/>
              </a:rPr>
              <a:t>OLA</a:t>
            </a:r>
            <a:endParaRPr lang="en-US" sz="26000" dirty="0"/>
          </a:p>
        </p:txBody>
      </p:sp>
      <p:sp>
        <p:nvSpPr>
          <p:cNvPr id="3" name="Shape 1"/>
          <p:cNvSpPr/>
          <p:nvPr/>
        </p:nvSpPr>
        <p:spPr>
          <a:xfrm>
            <a:off x="0" y="0"/>
            <a:ext cx="566928" cy="566928"/>
          </a:xfrm>
          <a:prstGeom prst="roundRect">
            <a:avLst>
              <a:gd name="adj" fmla="val 19355"/>
            </a:avLst>
          </a:prstGeom>
          <a:solidFill>
            <a:srgbClr val="2A2A2A"/>
          </a:solidFill>
          <a:ln/>
        </p:spPr>
      </p:sp>
      <p:sp>
        <p:nvSpPr>
          <p:cNvPr id="4" name="Text 2"/>
          <p:cNvSpPr/>
          <p:nvPr/>
        </p:nvSpPr>
        <p:spPr>
          <a:xfrm>
            <a:off x="0" y="0"/>
            <a:ext cx="566928" cy="566928"/>
          </a:xfrm>
          <a:prstGeom prst="rect">
            <a:avLst/>
          </a:prstGeom>
          <a:noFill/>
          <a:ln/>
        </p:spPr>
        <p:txBody>
          <a:bodyPr wrap="square" lIns="0" tIns="0" rIns="0" bIns="0" rtlCol="0" anchor="ctr"/>
          <a:lstStyle/>
          <a:p>
            <a:pPr marL="0" indent="0" algn="ctr">
              <a:buNone/>
            </a:pPr>
            <a:r>
              <a:rPr lang="en-US" sz="1000" b="1" dirty="0">
                <a:solidFill>
                  <a:srgbClr val="C9F031"/>
                </a:solidFill>
                <a:latin typeface="Arial Black" pitchFamily="34" charset="0"/>
                <a:ea typeface="Arial Black" pitchFamily="34" charset="-122"/>
                <a:cs typeface="Arial Black" pitchFamily="34" charset="-120"/>
              </a:rPr>
              <a:t>OLA</a:t>
            </a:r>
            <a:endParaRPr lang="en-US" sz="1000" dirty="0"/>
          </a:p>
        </p:txBody>
      </p:sp>
      <p:sp>
        <p:nvSpPr>
          <p:cNvPr id="5" name="Text 3"/>
          <p:cNvSpPr/>
          <p:nvPr/>
        </p:nvSpPr>
        <p:spPr>
          <a:xfrm>
            <a:off x="822960" y="1783080"/>
            <a:ext cx="9144000" cy="365760"/>
          </a:xfrm>
          <a:prstGeom prst="rect">
            <a:avLst/>
          </a:prstGeom>
          <a:noFill/>
          <a:ln/>
        </p:spPr>
        <p:txBody>
          <a:bodyPr wrap="square" lIns="0" tIns="0" rIns="0" bIns="0" rtlCol="0" anchor="ctr"/>
          <a:lstStyle/>
          <a:p>
            <a:pPr marL="0" indent="0">
              <a:buNone/>
            </a:pPr>
            <a:r>
              <a:rPr lang="en-US" sz="1400" b="1" kern="0" spc="300" dirty="0">
                <a:solidFill>
                  <a:srgbClr val="C9F031"/>
                </a:solidFill>
                <a:latin typeface="Arial" pitchFamily="34" charset="0"/>
                <a:ea typeface="Arial" pitchFamily="34" charset="-122"/>
                <a:cs typeface="Arial" pitchFamily="34" charset="-120"/>
              </a:rPr>
              <a:t>POWER BI CAPSTONE PROJECT</a:t>
            </a:r>
            <a:endParaRPr lang="en-US" sz="1400" dirty="0"/>
          </a:p>
        </p:txBody>
      </p:sp>
      <p:sp>
        <p:nvSpPr>
          <p:cNvPr id="6" name="Text 4"/>
          <p:cNvSpPr/>
          <p:nvPr/>
        </p:nvSpPr>
        <p:spPr>
          <a:xfrm>
            <a:off x="777240" y="2194560"/>
            <a:ext cx="10607040" cy="1554480"/>
          </a:xfrm>
          <a:prstGeom prst="rect">
            <a:avLst/>
          </a:prstGeom>
          <a:noFill/>
          <a:ln/>
        </p:spPr>
        <p:txBody>
          <a:bodyPr wrap="square" lIns="0" tIns="0" rIns="0" bIns="0" rtlCol="0" anchor="ctr"/>
          <a:lstStyle/>
          <a:p>
            <a:pPr marL="0" indent="0" algn="l">
              <a:lnSpc>
                <a:spcPts val="4600"/>
              </a:lnSpc>
              <a:buNone/>
            </a:pPr>
            <a:r>
              <a:rPr lang="en-US" sz="3800" b="1" dirty="0">
                <a:solidFill>
                  <a:srgbClr val="FFFFFF"/>
                </a:solidFill>
                <a:latin typeface="Georgia" pitchFamily="34" charset="0"/>
                <a:ea typeface="Georgia" pitchFamily="34" charset="-122"/>
                <a:cs typeface="Georgia" pitchFamily="34" charset="-120"/>
              </a:rPr>
              <a:t>Business Performance &amp;</a:t>
            </a:r>
            <a:endParaRPr lang="en-US" sz="3800" dirty="0"/>
          </a:p>
          <a:p>
            <a:pPr marL="0" indent="0" algn="l">
              <a:lnSpc>
                <a:spcPts val="4600"/>
              </a:lnSpc>
              <a:buNone/>
            </a:pPr>
            <a:r>
              <a:rPr lang="en-US" sz="3800" b="1" dirty="0">
                <a:solidFill>
                  <a:srgbClr val="FFFFFF"/>
                </a:solidFill>
                <a:latin typeface="Georgia" pitchFamily="34" charset="0"/>
                <a:ea typeface="Georgia" pitchFamily="34" charset="-122"/>
                <a:cs typeface="Georgia" pitchFamily="34" charset="-120"/>
              </a:rPr>
              <a:t>Profitability Analysis of OLA</a:t>
            </a:r>
            <a:endParaRPr lang="en-US" sz="3800" dirty="0"/>
          </a:p>
        </p:txBody>
      </p:sp>
      <p:sp>
        <p:nvSpPr>
          <p:cNvPr id="7" name="Text 5"/>
          <p:cNvSpPr/>
          <p:nvPr/>
        </p:nvSpPr>
        <p:spPr>
          <a:xfrm>
            <a:off x="822960" y="3794760"/>
            <a:ext cx="9601200" cy="457200"/>
          </a:xfrm>
          <a:prstGeom prst="rect">
            <a:avLst/>
          </a:prstGeom>
          <a:noFill/>
          <a:ln/>
        </p:spPr>
        <p:txBody>
          <a:bodyPr wrap="square" lIns="0" tIns="0" rIns="0" bIns="0" rtlCol="0" anchor="ctr"/>
          <a:lstStyle/>
          <a:p>
            <a:pPr marL="0" indent="0">
              <a:buNone/>
            </a:pPr>
            <a:r>
              <a:rPr lang="en-US" sz="1500" i="1" dirty="0">
                <a:solidFill>
                  <a:srgbClr val="C7C7C7"/>
                </a:solidFill>
                <a:latin typeface="Arial" pitchFamily="34" charset="0"/>
                <a:ea typeface="Arial" pitchFamily="34" charset="-122"/>
                <a:cs typeface="Arial" pitchFamily="34" charset="-120"/>
              </a:rPr>
              <a:t>A Power BI Dashboard Study of Bookings, Revenue &amp; Customer Behaviour</a:t>
            </a:r>
            <a:endParaRPr lang="en-US" sz="1500" dirty="0"/>
          </a:p>
        </p:txBody>
      </p:sp>
      <p:sp>
        <p:nvSpPr>
          <p:cNvPr id="8" name="Text 6"/>
          <p:cNvSpPr/>
          <p:nvPr/>
        </p:nvSpPr>
        <p:spPr>
          <a:xfrm>
            <a:off x="822960" y="5120640"/>
            <a:ext cx="4572000" cy="274320"/>
          </a:xfrm>
          <a:prstGeom prst="rect">
            <a:avLst/>
          </a:prstGeom>
          <a:noFill/>
          <a:ln/>
        </p:spPr>
        <p:txBody>
          <a:bodyPr wrap="square" lIns="0" tIns="0" rIns="0" bIns="0" rtlCol="0" anchor="ctr"/>
          <a:lstStyle/>
          <a:p>
            <a:pPr marL="0" indent="0">
              <a:buNone/>
            </a:pPr>
            <a:r>
              <a:rPr lang="en-US" sz="1050" b="1" kern="0" spc="200" dirty="0">
                <a:solidFill>
                  <a:srgbClr val="9A9A9A"/>
                </a:solidFill>
                <a:latin typeface="Arial" pitchFamily="34" charset="0"/>
                <a:ea typeface="Arial" pitchFamily="34" charset="-122"/>
                <a:cs typeface="Arial" pitchFamily="34" charset="-120"/>
              </a:rPr>
              <a:t>PROJECT REPRESENTER</a:t>
            </a:r>
            <a:endParaRPr lang="en-US" sz="1050" dirty="0"/>
          </a:p>
        </p:txBody>
      </p:sp>
      <p:sp>
        <p:nvSpPr>
          <p:cNvPr id="9" name="Text 7"/>
          <p:cNvSpPr/>
          <p:nvPr/>
        </p:nvSpPr>
        <p:spPr>
          <a:xfrm>
            <a:off x="822960" y="5394960"/>
            <a:ext cx="5486400" cy="411480"/>
          </a:xfrm>
          <a:prstGeom prst="rect">
            <a:avLst/>
          </a:prstGeom>
          <a:noFill/>
          <a:ln/>
        </p:spPr>
        <p:txBody>
          <a:bodyPr wrap="square" lIns="0" tIns="0" rIns="0" bIns="0" rtlCol="0" anchor="ctr"/>
          <a:lstStyle/>
          <a:p>
            <a:pPr marL="0" indent="0">
              <a:buNone/>
            </a:pPr>
            <a:r>
              <a:rPr lang="en-US" sz="2100" b="1" dirty="0">
                <a:solidFill>
                  <a:srgbClr val="FFFFFF"/>
                </a:solidFill>
                <a:latin typeface="Georgia" pitchFamily="34" charset="0"/>
                <a:ea typeface="Georgia" pitchFamily="34" charset="-122"/>
                <a:cs typeface="Georgia" pitchFamily="34" charset="-120"/>
              </a:rPr>
              <a:t>Raushan Kant Verma</a:t>
            </a:r>
            <a:endParaRPr lang="en-US" sz="2100" dirty="0"/>
          </a:p>
        </p:txBody>
      </p:sp>
      <p:sp>
        <p:nvSpPr>
          <p:cNvPr id="10" name="Text 8"/>
          <p:cNvSpPr/>
          <p:nvPr/>
        </p:nvSpPr>
        <p:spPr>
          <a:xfrm>
            <a:off x="822960" y="5852160"/>
            <a:ext cx="5486400" cy="320040"/>
          </a:xfrm>
          <a:prstGeom prst="rect">
            <a:avLst/>
          </a:prstGeom>
          <a:noFill/>
          <a:ln/>
        </p:spPr>
        <p:txBody>
          <a:bodyPr wrap="square" lIns="0" tIns="0" rIns="0" bIns="0" rtlCol="0" anchor="ctr"/>
          <a:lstStyle/>
          <a:p>
            <a:pPr marL="0" indent="0">
              <a:buNone/>
            </a:pPr>
            <a:r>
              <a:rPr lang="en-US" sz="1300" dirty="0">
                <a:solidFill>
                  <a:srgbClr val="C9F031"/>
                </a:solidFill>
                <a:latin typeface="Arial" pitchFamily="34" charset="0"/>
                <a:ea typeface="Arial" pitchFamily="34" charset="-122"/>
                <a:cs typeface="Arial" pitchFamily="34" charset="-120"/>
              </a:rPr>
              <a:t>AF Code: AF05261061</a:t>
            </a:r>
            <a:endParaRPr lang="en-US" sz="1300" dirty="0"/>
          </a:p>
        </p:txBody>
      </p:sp>
      <p:sp>
        <p:nvSpPr>
          <p:cNvPr id="11" name="Text 9"/>
          <p:cNvSpPr/>
          <p:nvPr/>
        </p:nvSpPr>
        <p:spPr>
          <a:xfrm>
            <a:off x="457200" y="6473952"/>
            <a:ext cx="7315200" cy="274320"/>
          </a:xfrm>
          <a:prstGeom prst="rect">
            <a:avLst/>
          </a:prstGeom>
          <a:noFill/>
          <a:ln/>
        </p:spPr>
        <p:txBody>
          <a:bodyPr wrap="square" lIns="0" tIns="0" rIns="0" bIns="0" rtlCol="0" anchor="ctr"/>
          <a:lstStyle/>
          <a:p>
            <a:pPr marL="0" indent="0">
              <a:buNone/>
            </a:pPr>
            <a:r>
              <a:rPr lang="en-US" sz="900" kern="0" spc="200" dirty="0">
                <a:solidFill>
                  <a:schemeClr val="bg1"/>
                </a:solidFill>
                <a:latin typeface="Arial" pitchFamily="34" charset="0"/>
                <a:ea typeface="Arial" pitchFamily="34" charset="-122"/>
                <a:cs typeface="Arial" pitchFamily="34" charset="-120"/>
              </a:rPr>
              <a:t>OLA . POWER BI PROJECT</a:t>
            </a:r>
            <a:endParaRPr lang="en-US" sz="900" dirty="0">
              <a:solidFill>
                <a:schemeClr val="bg1"/>
              </a:solidFill>
            </a:endParaRPr>
          </a:p>
        </p:txBody>
      </p:sp>
      <p:sp>
        <p:nvSpPr>
          <p:cNvPr id="12" name="Text 10"/>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A8A8A"/>
                </a:solidFill>
                <a:latin typeface="Arial" pitchFamily="34" charset="0"/>
                <a:ea typeface="Arial" pitchFamily="34" charset="-122"/>
                <a:cs typeface="Arial" pitchFamily="34" charset="-120"/>
              </a:rPr>
              <a:t>01</a:t>
            </a:r>
            <a:endParaRPr lang="en-US" sz="900" dirty="0"/>
          </a:p>
        </p:txBody>
      </p:sp>
      <p:pic>
        <p:nvPicPr>
          <p:cNvPr id="17" name="Picture 16">
            <a:extLst>
              <a:ext uri="{FF2B5EF4-FFF2-40B4-BE49-F238E27FC236}">
                <a16:creationId xmlns:a16="http://schemas.microsoft.com/office/drawing/2014/main" id="{E24D2577-52FA-A50A-5858-852FCEAEC6C1}"/>
              </a:ext>
            </a:extLst>
          </p:cNvPr>
          <p:cNvPicPr>
            <a:picLocks noChangeAspect="1"/>
          </p:cNvPicPr>
          <p:nvPr/>
        </p:nvPicPr>
        <p:blipFill>
          <a:blip r:embed="rId3"/>
          <a:stretch>
            <a:fillRect/>
          </a:stretch>
        </p:blipFill>
        <p:spPr>
          <a:xfrm>
            <a:off x="9762786" y="0"/>
            <a:ext cx="2429214" cy="7811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rot="-1080000">
            <a:off x="-2011680" y="1828800"/>
            <a:ext cx="15544800" cy="3657600"/>
          </a:xfrm>
          <a:prstGeom prst="rect">
            <a:avLst/>
          </a:prstGeom>
          <a:noFill/>
          <a:ln/>
        </p:spPr>
        <p:txBody>
          <a:bodyPr wrap="square" lIns="0" tIns="0" rIns="0" bIns="0" rtlCol="0" anchor="ctr"/>
          <a:lstStyle/>
          <a:p>
            <a:pPr marL="0" indent="0" algn="ctr">
              <a:buNone/>
            </a:pPr>
            <a:r>
              <a:rPr lang="en-US" sz="26000" b="1" dirty="0">
                <a:solidFill>
                  <a:srgbClr val="EFF3E0"/>
                </a:solidFill>
                <a:latin typeface="Arial Black" pitchFamily="34" charset="0"/>
                <a:ea typeface="Arial Black" pitchFamily="34" charset="-122"/>
                <a:cs typeface="Arial Black" pitchFamily="34" charset="-120"/>
              </a:rPr>
              <a:t>OLA</a:t>
            </a:r>
            <a:endParaRPr lang="en-US" sz="26000" dirty="0"/>
          </a:p>
        </p:txBody>
      </p:sp>
      <p:sp>
        <p:nvSpPr>
          <p:cNvPr id="3" name="Shape 1"/>
          <p:cNvSpPr/>
          <p:nvPr/>
        </p:nvSpPr>
        <p:spPr>
          <a:xfrm>
            <a:off x="43076" y="44398"/>
            <a:ext cx="566928" cy="566928"/>
          </a:xfrm>
          <a:prstGeom prst="roundRect">
            <a:avLst>
              <a:gd name="adj" fmla="val 19355"/>
            </a:avLst>
          </a:prstGeom>
          <a:solidFill>
            <a:srgbClr val="141414"/>
          </a:solidFill>
          <a:ln/>
        </p:spPr>
      </p:sp>
      <p:sp>
        <p:nvSpPr>
          <p:cNvPr id="4" name="Text 2"/>
          <p:cNvSpPr/>
          <p:nvPr/>
        </p:nvSpPr>
        <p:spPr>
          <a:xfrm rot="187574">
            <a:off x="58114" y="59436"/>
            <a:ext cx="566928" cy="566928"/>
          </a:xfrm>
          <a:prstGeom prst="rect">
            <a:avLst/>
          </a:prstGeom>
          <a:noFill/>
          <a:ln/>
        </p:spPr>
        <p:txBody>
          <a:bodyPr wrap="square" lIns="0" tIns="0" rIns="0" bIns="0" rtlCol="0" anchor="ctr"/>
          <a:lstStyle/>
          <a:p>
            <a:pPr marL="0" indent="0" algn="ctr">
              <a:buNone/>
            </a:pPr>
            <a:r>
              <a:rPr lang="en-US" sz="1000" b="1" dirty="0">
                <a:solidFill>
                  <a:srgbClr val="C9F031"/>
                </a:solidFill>
                <a:latin typeface="Arial Black" pitchFamily="34" charset="0"/>
                <a:ea typeface="Arial Black" pitchFamily="34" charset="-122"/>
                <a:cs typeface="Arial Black" pitchFamily="34" charset="-120"/>
              </a:rPr>
              <a:t>OLA</a:t>
            </a:r>
            <a:endParaRPr lang="en-US" sz="1000" dirty="0"/>
          </a:p>
        </p:txBody>
      </p:sp>
      <p:sp>
        <p:nvSpPr>
          <p:cNvPr id="5" name="Text 3"/>
          <p:cNvSpPr/>
          <p:nvPr/>
        </p:nvSpPr>
        <p:spPr>
          <a:xfrm>
            <a:off x="640080" y="457200"/>
            <a:ext cx="7315200" cy="457200"/>
          </a:xfrm>
          <a:prstGeom prst="rect">
            <a:avLst/>
          </a:prstGeom>
          <a:noFill/>
          <a:ln/>
        </p:spPr>
        <p:txBody>
          <a:bodyPr wrap="square" lIns="0" tIns="0" rIns="0" bIns="0" rtlCol="0" anchor="ctr"/>
          <a:lstStyle/>
          <a:p>
            <a:pPr marL="0" indent="0">
              <a:buNone/>
            </a:pPr>
            <a:r>
              <a:rPr lang="en-US" sz="2600" b="1" dirty="0">
                <a:solidFill>
                  <a:srgbClr val="1C1C1C"/>
                </a:solidFill>
                <a:latin typeface="Georgia" pitchFamily="34" charset="0"/>
                <a:ea typeface="Georgia" pitchFamily="34" charset="-122"/>
                <a:cs typeface="Georgia" pitchFamily="34" charset="-120"/>
              </a:rPr>
              <a:t>The Business Case</a:t>
            </a:r>
            <a:endParaRPr lang="en-US" sz="2600" dirty="0"/>
          </a:p>
        </p:txBody>
      </p:sp>
      <p:sp>
        <p:nvSpPr>
          <p:cNvPr id="6" name="Text 4"/>
          <p:cNvSpPr/>
          <p:nvPr/>
        </p:nvSpPr>
        <p:spPr>
          <a:xfrm>
            <a:off x="640080" y="914400"/>
            <a:ext cx="9601200" cy="365760"/>
          </a:xfrm>
          <a:prstGeom prst="rect">
            <a:avLst/>
          </a:prstGeom>
          <a:noFill/>
          <a:ln/>
        </p:spPr>
        <p:txBody>
          <a:bodyPr wrap="square" lIns="0" tIns="0" rIns="0" bIns="0" rtlCol="0" anchor="ctr"/>
          <a:lstStyle/>
          <a:p>
            <a:pPr marL="0" indent="0">
              <a:buNone/>
            </a:pPr>
            <a:r>
              <a:rPr lang="en-US" sz="1250" dirty="0">
                <a:solidFill>
                  <a:srgbClr val="6E6E6E"/>
                </a:solidFill>
                <a:latin typeface="Arial" pitchFamily="34" charset="0"/>
                <a:ea typeface="Arial" pitchFamily="34" charset="-122"/>
                <a:cs typeface="Arial" pitchFamily="34" charset="-120"/>
              </a:rPr>
              <a:t>OLA — Overview, the profitability problem, and how this project responds to it</a:t>
            </a:r>
            <a:endParaRPr lang="en-US" sz="1250" dirty="0"/>
          </a:p>
        </p:txBody>
      </p:sp>
      <p:sp>
        <p:nvSpPr>
          <p:cNvPr id="7" name="Shape 5"/>
          <p:cNvSpPr/>
          <p:nvPr/>
        </p:nvSpPr>
        <p:spPr>
          <a:xfrm>
            <a:off x="640080" y="1508760"/>
            <a:ext cx="3529584" cy="4663440"/>
          </a:xfrm>
          <a:prstGeom prst="roundRect">
            <a:avLst>
              <a:gd name="adj" fmla="val 2073"/>
            </a:avLst>
          </a:prstGeom>
          <a:solidFill>
            <a:srgbClr val="F7F8F3"/>
          </a:solidFill>
          <a:ln/>
          <a:effectLst>
            <a:outerShdw blurRad="76200" dist="25400" dir="5400000" algn="bl" rotWithShape="0">
              <a:srgbClr val="999999">
                <a:alpha val="25000"/>
              </a:srgbClr>
            </a:outerShdw>
          </a:effectLst>
        </p:spPr>
      </p:sp>
      <p:sp>
        <p:nvSpPr>
          <p:cNvPr id="8" name="Text 6"/>
          <p:cNvSpPr/>
          <p:nvPr/>
        </p:nvSpPr>
        <p:spPr>
          <a:xfrm>
            <a:off x="877824" y="1764792"/>
            <a:ext cx="3072384" cy="548640"/>
          </a:xfrm>
          <a:prstGeom prst="rect">
            <a:avLst/>
          </a:prstGeom>
          <a:noFill/>
          <a:ln/>
        </p:spPr>
        <p:txBody>
          <a:bodyPr wrap="square" lIns="0" tIns="0" rIns="0" bIns="0" rtlCol="0" anchor="ctr"/>
          <a:lstStyle/>
          <a:p>
            <a:pPr marL="0" indent="0">
              <a:buNone/>
            </a:pPr>
            <a:r>
              <a:rPr lang="en-US" sz="1550" b="1" dirty="0">
                <a:solidFill>
                  <a:srgbClr val="1C1C1C"/>
                </a:solidFill>
                <a:latin typeface="Georgia" pitchFamily="34" charset="0"/>
                <a:ea typeface="Georgia" pitchFamily="34" charset="-122"/>
                <a:cs typeface="Georgia" pitchFamily="34" charset="-120"/>
              </a:rPr>
              <a:t>Why We Chose OLA</a:t>
            </a:r>
            <a:endParaRPr lang="en-US" sz="1550" dirty="0"/>
          </a:p>
        </p:txBody>
      </p:sp>
      <p:sp>
        <p:nvSpPr>
          <p:cNvPr id="9" name="Text 7"/>
          <p:cNvSpPr/>
          <p:nvPr/>
        </p:nvSpPr>
        <p:spPr>
          <a:xfrm>
            <a:off x="877824" y="2377440"/>
            <a:ext cx="3072384" cy="3566160"/>
          </a:xfrm>
          <a:prstGeom prst="rect">
            <a:avLst/>
          </a:prstGeom>
          <a:noFill/>
          <a:ln/>
        </p:spPr>
        <p:txBody>
          <a:bodyPr wrap="square" lIns="0" tIns="0" rIns="0" bIns="0" rtlCol="0" anchor="t"/>
          <a:lstStyle/>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One of India's largest ride-hailing and mobility platforms, spanning cabs, autos, bikes and rentals</a:t>
            </a:r>
            <a:endParaRPr lang="en-US" sz="1050" dirty="0"/>
          </a:p>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Rich, high-volume transactional data — bookings, fares, distance, duration, demographics</a:t>
            </a:r>
            <a:endParaRPr lang="en-US" sz="1050" dirty="0"/>
          </a:p>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A real, well-known brand facing a genuine, well-documented profitability challenge</a:t>
            </a:r>
            <a:endParaRPr lang="en-US" sz="1050" dirty="0"/>
          </a:p>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Ideal case to apply Power BI for demand, revenue and customer analytics</a:t>
            </a:r>
            <a:endParaRPr lang="en-US" sz="1050" dirty="0"/>
          </a:p>
        </p:txBody>
      </p:sp>
      <p:sp>
        <p:nvSpPr>
          <p:cNvPr id="10" name="Shape 8"/>
          <p:cNvSpPr/>
          <p:nvPr/>
        </p:nvSpPr>
        <p:spPr>
          <a:xfrm>
            <a:off x="4425696" y="1508760"/>
            <a:ext cx="3529584" cy="4663440"/>
          </a:xfrm>
          <a:prstGeom prst="roundRect">
            <a:avLst>
              <a:gd name="adj" fmla="val 2073"/>
            </a:avLst>
          </a:prstGeom>
          <a:solidFill>
            <a:srgbClr val="FBF2F0"/>
          </a:solidFill>
          <a:ln/>
          <a:effectLst>
            <a:outerShdw blurRad="76200" dist="25400" dir="5400000" algn="bl" rotWithShape="0">
              <a:srgbClr val="999999">
                <a:alpha val="25000"/>
              </a:srgbClr>
            </a:outerShdw>
          </a:effectLst>
        </p:spPr>
      </p:sp>
      <p:sp>
        <p:nvSpPr>
          <p:cNvPr id="11" name="Text 9"/>
          <p:cNvSpPr/>
          <p:nvPr/>
        </p:nvSpPr>
        <p:spPr>
          <a:xfrm>
            <a:off x="4663440" y="1764792"/>
            <a:ext cx="3072384" cy="548640"/>
          </a:xfrm>
          <a:prstGeom prst="rect">
            <a:avLst/>
          </a:prstGeom>
          <a:noFill/>
          <a:ln/>
        </p:spPr>
        <p:txBody>
          <a:bodyPr wrap="square" lIns="0" tIns="0" rIns="0" bIns="0" rtlCol="0" anchor="ctr"/>
          <a:lstStyle/>
          <a:p>
            <a:pPr marL="0" indent="0">
              <a:buNone/>
            </a:pPr>
            <a:r>
              <a:rPr lang="en-US" sz="1550" b="1" dirty="0">
                <a:solidFill>
                  <a:srgbClr val="1C1C1C"/>
                </a:solidFill>
                <a:latin typeface="Georgia" pitchFamily="34" charset="0"/>
                <a:ea typeface="Georgia" pitchFamily="34" charset="-122"/>
                <a:cs typeface="Georgia" pitchFamily="34" charset="-120"/>
              </a:rPr>
              <a:t>Why It Isn't Profitable</a:t>
            </a:r>
            <a:endParaRPr lang="en-US" sz="1550" dirty="0"/>
          </a:p>
        </p:txBody>
      </p:sp>
      <p:sp>
        <p:nvSpPr>
          <p:cNvPr id="12" name="Text 10"/>
          <p:cNvSpPr/>
          <p:nvPr/>
        </p:nvSpPr>
        <p:spPr>
          <a:xfrm>
            <a:off x="4663440" y="2377440"/>
            <a:ext cx="3072384" cy="3566160"/>
          </a:xfrm>
          <a:prstGeom prst="rect">
            <a:avLst/>
          </a:prstGeom>
          <a:noFill/>
          <a:ln/>
        </p:spPr>
        <p:txBody>
          <a:bodyPr wrap="square" lIns="0" tIns="0" rIns="0" bIns="0" rtlCol="0" anchor="t"/>
          <a:lstStyle/>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Heavy, sustained discounting and rider/driver incentives to defend market share</a:t>
            </a:r>
            <a:endParaRPr lang="en-US" sz="1050" dirty="0"/>
          </a:p>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High customer acquisition and driver-retention costs in a price-sensitive market</a:t>
            </a:r>
            <a:endParaRPr lang="en-US" sz="1050" dirty="0"/>
          </a:p>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Intense competition from Uber, Rapido and local players compresses margins</a:t>
            </a:r>
            <a:endParaRPr lang="en-US" sz="1050" dirty="0"/>
          </a:p>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Capital-heavy diversification (e.g. EVs, new verticals) strains cash flow</a:t>
            </a:r>
            <a:endParaRPr lang="en-US" sz="1050" dirty="0"/>
          </a:p>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Low per-trip margins after commission, fuel/EMI support and platform costs</a:t>
            </a:r>
            <a:endParaRPr lang="en-US" sz="1050" dirty="0"/>
          </a:p>
        </p:txBody>
      </p:sp>
      <p:sp>
        <p:nvSpPr>
          <p:cNvPr id="13" name="Shape 11"/>
          <p:cNvSpPr/>
          <p:nvPr/>
        </p:nvSpPr>
        <p:spPr>
          <a:xfrm>
            <a:off x="8211312" y="1508760"/>
            <a:ext cx="3529584" cy="4663440"/>
          </a:xfrm>
          <a:prstGeom prst="roundRect">
            <a:avLst>
              <a:gd name="adj" fmla="val 2073"/>
            </a:avLst>
          </a:prstGeom>
          <a:solidFill>
            <a:srgbClr val="F7F8F3"/>
          </a:solidFill>
          <a:ln/>
          <a:effectLst>
            <a:outerShdw blurRad="76200" dist="25400" dir="5400000" algn="bl" rotWithShape="0">
              <a:srgbClr val="999999">
                <a:alpha val="25000"/>
              </a:srgbClr>
            </a:outerShdw>
          </a:effectLst>
        </p:spPr>
      </p:sp>
      <p:sp>
        <p:nvSpPr>
          <p:cNvPr id="14" name="Text 12"/>
          <p:cNvSpPr/>
          <p:nvPr/>
        </p:nvSpPr>
        <p:spPr>
          <a:xfrm>
            <a:off x="8449056" y="1764792"/>
            <a:ext cx="3072384" cy="548640"/>
          </a:xfrm>
          <a:prstGeom prst="rect">
            <a:avLst/>
          </a:prstGeom>
          <a:noFill/>
          <a:ln/>
        </p:spPr>
        <p:txBody>
          <a:bodyPr wrap="square" lIns="0" tIns="0" rIns="0" bIns="0" rtlCol="0" anchor="ctr"/>
          <a:lstStyle/>
          <a:p>
            <a:pPr marL="0" indent="0">
              <a:buNone/>
            </a:pPr>
            <a:r>
              <a:rPr lang="en-US" sz="1550" b="1" dirty="0">
                <a:solidFill>
                  <a:srgbClr val="1C1C1C"/>
                </a:solidFill>
                <a:latin typeface="Georgia" pitchFamily="34" charset="0"/>
                <a:ea typeface="Georgia" pitchFamily="34" charset="-122"/>
                <a:cs typeface="Georgia" pitchFamily="34" charset="-120"/>
              </a:rPr>
              <a:t>How This Project Helps</a:t>
            </a:r>
            <a:endParaRPr lang="en-US" sz="1550" dirty="0"/>
          </a:p>
        </p:txBody>
      </p:sp>
      <p:sp>
        <p:nvSpPr>
          <p:cNvPr id="15" name="Text 13"/>
          <p:cNvSpPr/>
          <p:nvPr/>
        </p:nvSpPr>
        <p:spPr>
          <a:xfrm>
            <a:off x="8449056" y="2377440"/>
            <a:ext cx="3072384" cy="3566160"/>
          </a:xfrm>
          <a:prstGeom prst="rect">
            <a:avLst/>
          </a:prstGeom>
          <a:noFill/>
          <a:ln/>
        </p:spPr>
        <p:txBody>
          <a:bodyPr wrap="square" lIns="0" tIns="0" rIns="0" bIns="0" rtlCol="0" anchor="t"/>
          <a:lstStyle/>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Identifies peak booking hours and days to optimise driver supply and pricing</a:t>
            </a:r>
            <a:endParaRPr lang="en-US" sz="1050" dirty="0"/>
          </a:p>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Segments customers (Premium vs regular) to focus retention where margin is highest</a:t>
            </a:r>
            <a:endParaRPr lang="en-US" sz="1050" dirty="0"/>
          </a:p>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Tracks revenue by vehicle type and customer type to guide where to invest or cut</a:t>
            </a:r>
            <a:endParaRPr lang="en-US" sz="1050" dirty="0"/>
          </a:p>
          <a:p>
            <a:pPr marL="177800" indent="-177800">
              <a:lnSpc>
                <a:spcPts val="1400"/>
              </a:lnSpc>
              <a:spcAft>
                <a:spcPts val="1000"/>
              </a:spcAft>
              <a:buSzPct val="100000"/>
              <a:buChar char="•"/>
            </a:pPr>
            <a:r>
              <a:rPr lang="en-US" sz="1050" dirty="0">
                <a:solidFill>
                  <a:srgbClr val="3A3A3A"/>
                </a:solidFill>
                <a:latin typeface="Arial" pitchFamily="34" charset="0"/>
                <a:ea typeface="Arial" pitchFamily="34" charset="-122"/>
                <a:cs typeface="Arial" pitchFamily="34" charset="-120"/>
              </a:rPr>
              <a:t>Turns raw booking data into a decision-ready view for reducing discount dependency</a:t>
            </a:r>
            <a:endParaRPr lang="en-US" sz="1050" dirty="0"/>
          </a:p>
        </p:txBody>
      </p:sp>
      <p:sp>
        <p:nvSpPr>
          <p:cNvPr id="16" name="Text 14"/>
          <p:cNvSpPr/>
          <p:nvPr/>
        </p:nvSpPr>
        <p:spPr>
          <a:xfrm>
            <a:off x="457200" y="6473952"/>
            <a:ext cx="7315200" cy="274320"/>
          </a:xfrm>
          <a:prstGeom prst="rect">
            <a:avLst/>
          </a:prstGeom>
          <a:noFill/>
          <a:ln/>
        </p:spPr>
        <p:txBody>
          <a:bodyPr wrap="square" lIns="0" tIns="0" rIns="0" bIns="0" rtlCol="0" anchor="ctr"/>
          <a:lstStyle/>
          <a:p>
            <a:pPr marL="0" indent="0">
              <a:buNone/>
            </a:pPr>
            <a:r>
              <a:rPr lang="en-US" sz="900" kern="0" spc="200" dirty="0">
                <a:latin typeface="Arial" pitchFamily="34" charset="0"/>
                <a:ea typeface="Arial" pitchFamily="34" charset="-122"/>
                <a:cs typeface="Arial" pitchFamily="34" charset="-120"/>
              </a:rPr>
              <a:t>OLA . POWER BI PROJECT</a:t>
            </a:r>
            <a:endParaRPr lang="en-US" sz="900" dirty="0"/>
          </a:p>
        </p:txBody>
      </p:sp>
      <p:sp>
        <p:nvSpPr>
          <p:cNvPr id="17" name="Text 15"/>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9A9A9A"/>
                </a:solidFill>
                <a:latin typeface="Arial" pitchFamily="34" charset="0"/>
                <a:ea typeface="Arial" pitchFamily="34" charset="-122"/>
                <a:cs typeface="Arial" pitchFamily="34" charset="-120"/>
              </a:rPr>
              <a:t>02</a:t>
            </a:r>
            <a:endParaRPr lang="en-US" sz="900" dirty="0"/>
          </a:p>
        </p:txBody>
      </p:sp>
      <p:pic>
        <p:nvPicPr>
          <p:cNvPr id="19" name="Picture 18">
            <a:extLst>
              <a:ext uri="{FF2B5EF4-FFF2-40B4-BE49-F238E27FC236}">
                <a16:creationId xmlns:a16="http://schemas.microsoft.com/office/drawing/2014/main" id="{6ECF7AAA-200D-48AF-830B-2E1E0BC954D9}"/>
              </a:ext>
            </a:extLst>
          </p:cNvPr>
          <p:cNvPicPr>
            <a:picLocks noChangeAspect="1"/>
          </p:cNvPicPr>
          <p:nvPr/>
        </p:nvPicPr>
        <p:blipFill>
          <a:blip r:embed="rId3"/>
          <a:stretch>
            <a:fillRect/>
          </a:stretch>
        </p:blipFill>
        <p:spPr>
          <a:xfrm>
            <a:off x="9719710" y="18941"/>
            <a:ext cx="2429214" cy="7811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rot="-1080000">
            <a:off x="-2011680" y="1828800"/>
            <a:ext cx="15544800" cy="3657600"/>
          </a:xfrm>
          <a:prstGeom prst="rect">
            <a:avLst/>
          </a:prstGeom>
          <a:noFill/>
          <a:ln/>
        </p:spPr>
        <p:txBody>
          <a:bodyPr wrap="square" lIns="0" tIns="0" rIns="0" bIns="0" rtlCol="0" anchor="ctr"/>
          <a:lstStyle/>
          <a:p>
            <a:pPr marL="0" indent="0" algn="ctr">
              <a:buNone/>
            </a:pPr>
            <a:r>
              <a:rPr lang="en-US" sz="26000" b="1" dirty="0">
                <a:solidFill>
                  <a:srgbClr val="EFF3E0"/>
                </a:solidFill>
                <a:latin typeface="Arial Black" pitchFamily="34" charset="0"/>
                <a:ea typeface="Arial Black" pitchFamily="34" charset="-122"/>
                <a:cs typeface="Arial Black" pitchFamily="34" charset="-120"/>
              </a:rPr>
              <a:t>OLA</a:t>
            </a:r>
            <a:endParaRPr lang="en-US" sz="26000" dirty="0"/>
          </a:p>
        </p:txBody>
      </p:sp>
      <p:sp>
        <p:nvSpPr>
          <p:cNvPr id="3" name="Shape 1"/>
          <p:cNvSpPr/>
          <p:nvPr/>
        </p:nvSpPr>
        <p:spPr>
          <a:xfrm>
            <a:off x="0" y="73152"/>
            <a:ext cx="566928" cy="566928"/>
          </a:xfrm>
          <a:prstGeom prst="roundRect">
            <a:avLst>
              <a:gd name="adj" fmla="val 19355"/>
            </a:avLst>
          </a:prstGeom>
          <a:solidFill>
            <a:srgbClr val="141414"/>
          </a:solidFill>
          <a:ln/>
        </p:spPr>
      </p:sp>
      <p:sp>
        <p:nvSpPr>
          <p:cNvPr id="4" name="Text 2"/>
          <p:cNvSpPr/>
          <p:nvPr/>
        </p:nvSpPr>
        <p:spPr>
          <a:xfrm>
            <a:off x="-5385" y="0"/>
            <a:ext cx="566928" cy="566928"/>
          </a:xfrm>
          <a:prstGeom prst="rect">
            <a:avLst/>
          </a:prstGeom>
          <a:noFill/>
          <a:ln/>
        </p:spPr>
        <p:txBody>
          <a:bodyPr wrap="square" lIns="0" tIns="0" rIns="0" bIns="0" rtlCol="0" anchor="ctr"/>
          <a:lstStyle/>
          <a:p>
            <a:pPr marL="0" indent="0" algn="ctr">
              <a:buNone/>
            </a:pPr>
            <a:r>
              <a:rPr lang="en-US" sz="1000" b="1" dirty="0">
                <a:solidFill>
                  <a:srgbClr val="C9F031"/>
                </a:solidFill>
                <a:latin typeface="Arial Black" pitchFamily="34" charset="0"/>
                <a:ea typeface="Arial Black" pitchFamily="34" charset="-122"/>
                <a:cs typeface="Arial Black" pitchFamily="34" charset="-120"/>
              </a:rPr>
              <a:t>OLA</a:t>
            </a:r>
            <a:endParaRPr lang="en-US" sz="1000" dirty="0"/>
          </a:p>
        </p:txBody>
      </p:sp>
      <p:sp>
        <p:nvSpPr>
          <p:cNvPr id="5" name="Text 3"/>
          <p:cNvSpPr/>
          <p:nvPr/>
        </p:nvSpPr>
        <p:spPr>
          <a:xfrm>
            <a:off x="640080" y="411480"/>
            <a:ext cx="10058400" cy="457200"/>
          </a:xfrm>
          <a:prstGeom prst="rect">
            <a:avLst/>
          </a:prstGeom>
          <a:noFill/>
          <a:ln/>
        </p:spPr>
        <p:txBody>
          <a:bodyPr wrap="square" lIns="0" tIns="0" rIns="0" bIns="0" rtlCol="0" anchor="ctr"/>
          <a:lstStyle/>
          <a:p>
            <a:pPr marL="0" indent="0">
              <a:buNone/>
            </a:pPr>
            <a:r>
              <a:rPr lang="en-US" sz="2300" b="1" dirty="0">
                <a:solidFill>
                  <a:srgbClr val="1C1C1C"/>
                </a:solidFill>
                <a:latin typeface="Georgia" pitchFamily="34" charset="0"/>
                <a:ea typeface="Georgia" pitchFamily="34" charset="-122"/>
                <a:cs typeface="Georgia" pitchFamily="34" charset="-120"/>
              </a:rPr>
              <a:t>Dashboard Page 1 — Executive Overview</a:t>
            </a:r>
            <a:endParaRPr lang="en-US" sz="2300" dirty="0"/>
          </a:p>
        </p:txBody>
      </p:sp>
      <p:sp>
        <p:nvSpPr>
          <p:cNvPr id="6" name="Text 4"/>
          <p:cNvSpPr/>
          <p:nvPr/>
        </p:nvSpPr>
        <p:spPr>
          <a:xfrm>
            <a:off x="640080" y="868680"/>
            <a:ext cx="9601200" cy="365760"/>
          </a:xfrm>
          <a:prstGeom prst="rect">
            <a:avLst/>
          </a:prstGeom>
          <a:noFill/>
          <a:ln/>
        </p:spPr>
        <p:txBody>
          <a:bodyPr wrap="square" lIns="0" tIns="0" rIns="0" bIns="0" rtlCol="0" anchor="ctr"/>
          <a:lstStyle/>
          <a:p>
            <a:pPr marL="0" indent="0">
              <a:buNone/>
            </a:pPr>
            <a:r>
              <a:rPr lang="en-US" sz="1250" dirty="0">
                <a:solidFill>
                  <a:srgbClr val="6E6E6E"/>
                </a:solidFill>
                <a:latin typeface="Arial" pitchFamily="34" charset="0"/>
                <a:ea typeface="Arial" pitchFamily="34" charset="-122"/>
                <a:cs typeface="Arial" pitchFamily="34" charset="-120"/>
              </a:rPr>
              <a:t>High-level KPIs and trends across all bookings</a:t>
            </a:r>
            <a:endParaRPr lang="en-US" sz="1250" dirty="0"/>
          </a:p>
        </p:txBody>
      </p:sp>
      <p:sp>
        <p:nvSpPr>
          <p:cNvPr id="7" name="Shape 5"/>
          <p:cNvSpPr/>
          <p:nvPr/>
        </p:nvSpPr>
        <p:spPr>
          <a:xfrm>
            <a:off x="640080" y="1417320"/>
            <a:ext cx="10881360" cy="3657600"/>
          </a:xfrm>
          <a:prstGeom prst="roundRect">
            <a:avLst>
              <a:gd name="adj" fmla="val 1500"/>
            </a:avLst>
          </a:prstGeom>
          <a:solidFill>
            <a:srgbClr val="FBFBF8"/>
          </a:solidFill>
          <a:ln w="19050">
            <a:solidFill>
              <a:srgbClr val="C7CBB8"/>
            </a:solidFill>
            <a:prstDash val="dash"/>
          </a:ln>
        </p:spPr>
      </p:sp>
      <p:sp>
        <p:nvSpPr>
          <p:cNvPr id="8" name="Text 6"/>
          <p:cNvSpPr/>
          <p:nvPr/>
        </p:nvSpPr>
        <p:spPr>
          <a:xfrm>
            <a:off x="640080" y="2926080"/>
            <a:ext cx="10881360" cy="365760"/>
          </a:xfrm>
          <a:prstGeom prst="rect">
            <a:avLst/>
          </a:prstGeom>
          <a:noFill/>
          <a:ln/>
        </p:spPr>
        <p:txBody>
          <a:bodyPr wrap="square" lIns="0" tIns="0" rIns="0" bIns="0" rtlCol="0" anchor="ctr"/>
          <a:lstStyle/>
          <a:p>
            <a:pPr marL="0" indent="0" algn="ctr">
              <a:buNone/>
            </a:pPr>
            <a:r>
              <a:rPr lang="en-US" sz="1300" b="1" kern="0" spc="200" dirty="0">
                <a:solidFill>
                  <a:srgbClr val="9A9E86"/>
                </a:solidFill>
                <a:latin typeface="Arial" pitchFamily="34" charset="0"/>
                <a:ea typeface="Arial" pitchFamily="34" charset="-122"/>
                <a:cs typeface="Arial" pitchFamily="34" charset="-120"/>
              </a:rPr>
              <a:t>SCREENSHOT OF POWER BI REPORT PAGE</a:t>
            </a:r>
            <a:endParaRPr lang="en-US" sz="1300" dirty="0"/>
          </a:p>
        </p:txBody>
      </p:sp>
      <p:sp>
        <p:nvSpPr>
          <p:cNvPr id="9" name="Text 7"/>
          <p:cNvSpPr/>
          <p:nvPr/>
        </p:nvSpPr>
        <p:spPr>
          <a:xfrm>
            <a:off x="640080" y="3337560"/>
            <a:ext cx="10881360" cy="365760"/>
          </a:xfrm>
          <a:prstGeom prst="rect">
            <a:avLst/>
          </a:prstGeom>
          <a:noFill/>
          <a:ln/>
        </p:spPr>
        <p:txBody>
          <a:bodyPr wrap="square" lIns="0" tIns="0" rIns="0" bIns="0" rtlCol="0" anchor="ctr"/>
          <a:lstStyle/>
          <a:p>
            <a:pPr marL="0" indent="0" algn="ctr">
              <a:buNone/>
            </a:pPr>
            <a:r>
              <a:rPr lang="en-US" sz="1100" i="1" dirty="0">
                <a:solidFill>
                  <a:srgbClr val="B3B7A0"/>
                </a:solidFill>
                <a:latin typeface="Arial" pitchFamily="34" charset="0"/>
                <a:ea typeface="Arial" pitchFamily="34" charset="-122"/>
                <a:cs typeface="Arial" pitchFamily="34" charset="-120"/>
              </a:rPr>
              <a:t>( paste "Dashboard Page 1 — Executive Overview" page render here )</a:t>
            </a:r>
            <a:endParaRPr lang="en-US" sz="1100" dirty="0"/>
          </a:p>
        </p:txBody>
      </p:sp>
      <p:sp>
        <p:nvSpPr>
          <p:cNvPr id="10" name="Text 8"/>
          <p:cNvSpPr/>
          <p:nvPr/>
        </p:nvSpPr>
        <p:spPr>
          <a:xfrm>
            <a:off x="914400" y="5257800"/>
            <a:ext cx="5486400" cy="274320"/>
          </a:xfrm>
          <a:prstGeom prst="rect">
            <a:avLst/>
          </a:prstGeom>
          <a:noFill/>
          <a:ln/>
        </p:spPr>
        <p:txBody>
          <a:bodyPr wrap="square" lIns="0" tIns="0" rIns="0" bIns="0" rtlCol="0" anchor="ctr"/>
          <a:lstStyle/>
          <a:p>
            <a:pPr marL="0" indent="0">
              <a:buNone/>
            </a:pPr>
            <a:r>
              <a:rPr lang="en-US" sz="1050" b="1" dirty="0">
                <a:solidFill>
                  <a:srgbClr val="1C1C1C"/>
                </a:solidFill>
                <a:latin typeface="Arial" pitchFamily="34" charset="0"/>
                <a:ea typeface="Arial" pitchFamily="34" charset="-122"/>
                <a:cs typeface="Arial" pitchFamily="34" charset="-120"/>
              </a:rPr>
              <a:t>Key elements on this page:</a:t>
            </a:r>
            <a:endParaRPr lang="en-US" sz="1050" dirty="0"/>
          </a:p>
        </p:txBody>
      </p:sp>
      <p:sp>
        <p:nvSpPr>
          <p:cNvPr id="11" name="Text 9"/>
          <p:cNvSpPr/>
          <p:nvPr/>
        </p:nvSpPr>
        <p:spPr>
          <a:xfrm>
            <a:off x="914400" y="5532120"/>
            <a:ext cx="10241280" cy="274320"/>
          </a:xfrm>
          <a:prstGeom prst="rect">
            <a:avLst/>
          </a:prstGeom>
          <a:noFill/>
          <a:ln/>
        </p:spPr>
        <p:txBody>
          <a:bodyPr wrap="square" lIns="0" tIns="0" rIns="0" bIns="0" rtlCol="0" anchor="ctr"/>
          <a:lstStyle/>
          <a:p>
            <a:pPr marL="0" indent="0">
              <a:buNone/>
            </a:pPr>
            <a:r>
              <a:rPr lang="en-US" sz="950" dirty="0">
                <a:solidFill>
                  <a:srgbClr val="6E6E6E"/>
                </a:solidFill>
                <a:latin typeface="Arial" pitchFamily="34" charset="0"/>
                <a:ea typeface="Arial" pitchFamily="34" charset="-122"/>
                <a:cs typeface="Arial" pitchFamily="34" charset="-120"/>
              </a:rPr>
              <a:t>Total Booking   •   Average Distance Travel   •   Average Duration Taken   •   Total Revenue</a:t>
            </a:r>
            <a:endParaRPr lang="en-US" sz="950" dirty="0"/>
          </a:p>
        </p:txBody>
      </p:sp>
      <p:sp>
        <p:nvSpPr>
          <p:cNvPr id="12" name="Text 10"/>
          <p:cNvSpPr/>
          <p:nvPr/>
        </p:nvSpPr>
        <p:spPr>
          <a:xfrm>
            <a:off x="914400" y="5779008"/>
            <a:ext cx="10241280" cy="274320"/>
          </a:xfrm>
          <a:prstGeom prst="rect">
            <a:avLst/>
          </a:prstGeom>
          <a:noFill/>
          <a:ln/>
        </p:spPr>
        <p:txBody>
          <a:bodyPr wrap="square" lIns="0" tIns="0" rIns="0" bIns="0" rtlCol="0" anchor="ctr"/>
          <a:lstStyle/>
          <a:p>
            <a:pPr marL="0" indent="0">
              <a:buNone/>
            </a:pPr>
            <a:r>
              <a:rPr lang="en-US" sz="950" dirty="0">
                <a:solidFill>
                  <a:srgbClr val="6E6E6E"/>
                </a:solidFill>
                <a:latin typeface="Arial" pitchFamily="34" charset="0"/>
                <a:ea typeface="Arial" pitchFamily="34" charset="-122"/>
                <a:cs typeface="Arial" pitchFamily="34" charset="-120"/>
              </a:rPr>
              <a:t>Booking Count over Time   •   Revenue over Time   •   Booking over Vehicle Type   •   Booking over Gender</a:t>
            </a:r>
            <a:endParaRPr lang="en-US" sz="950" dirty="0"/>
          </a:p>
        </p:txBody>
      </p:sp>
      <p:sp>
        <p:nvSpPr>
          <p:cNvPr id="13" name="Text 11"/>
          <p:cNvSpPr/>
          <p:nvPr/>
        </p:nvSpPr>
        <p:spPr>
          <a:xfrm>
            <a:off x="457200" y="6473952"/>
            <a:ext cx="7315200" cy="274320"/>
          </a:xfrm>
          <a:prstGeom prst="rect">
            <a:avLst/>
          </a:prstGeom>
          <a:noFill/>
          <a:ln/>
        </p:spPr>
        <p:txBody>
          <a:bodyPr wrap="square" lIns="0" tIns="0" rIns="0" bIns="0" rtlCol="0" anchor="ctr"/>
          <a:lstStyle/>
          <a:p>
            <a:pPr marL="0" indent="0">
              <a:buNone/>
            </a:pPr>
            <a:r>
              <a:rPr lang="en-US" sz="900" kern="0" spc="200" dirty="0">
                <a:latin typeface="Arial" pitchFamily="34" charset="0"/>
                <a:ea typeface="Arial" pitchFamily="34" charset="-122"/>
                <a:cs typeface="Arial" pitchFamily="34" charset="-120"/>
              </a:rPr>
              <a:t>OLA . POWER BI PROJECT</a:t>
            </a:r>
            <a:endParaRPr lang="en-US" sz="900" dirty="0"/>
          </a:p>
        </p:txBody>
      </p:sp>
      <p:sp>
        <p:nvSpPr>
          <p:cNvPr id="14" name="Text 12"/>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9A9A9A"/>
                </a:solidFill>
                <a:latin typeface="Arial" pitchFamily="34" charset="0"/>
                <a:ea typeface="Arial" pitchFamily="34" charset="-122"/>
                <a:cs typeface="Arial" pitchFamily="34" charset="-120"/>
              </a:rPr>
              <a:t>03</a:t>
            </a:r>
            <a:endParaRPr lang="en-US" sz="900" dirty="0"/>
          </a:p>
        </p:txBody>
      </p:sp>
      <p:pic>
        <p:nvPicPr>
          <p:cNvPr id="16" name="Picture 15">
            <a:extLst>
              <a:ext uri="{FF2B5EF4-FFF2-40B4-BE49-F238E27FC236}">
                <a16:creationId xmlns:a16="http://schemas.microsoft.com/office/drawing/2014/main" id="{69CF3397-CB1D-65E5-7389-73C51C433296}"/>
              </a:ext>
            </a:extLst>
          </p:cNvPr>
          <p:cNvPicPr>
            <a:picLocks noChangeAspect="1"/>
          </p:cNvPicPr>
          <p:nvPr/>
        </p:nvPicPr>
        <p:blipFill>
          <a:blip r:embed="rId3"/>
          <a:stretch>
            <a:fillRect/>
          </a:stretch>
        </p:blipFill>
        <p:spPr>
          <a:xfrm>
            <a:off x="579120" y="1444752"/>
            <a:ext cx="10911840" cy="3721608"/>
          </a:xfrm>
          <a:prstGeom prst="rect">
            <a:avLst/>
          </a:prstGeom>
        </p:spPr>
      </p:pic>
      <p:pic>
        <p:nvPicPr>
          <p:cNvPr id="18" name="Picture 17">
            <a:extLst>
              <a:ext uri="{FF2B5EF4-FFF2-40B4-BE49-F238E27FC236}">
                <a16:creationId xmlns:a16="http://schemas.microsoft.com/office/drawing/2014/main" id="{F6551763-04B1-0173-11A4-DC4233B3A8BE}"/>
              </a:ext>
            </a:extLst>
          </p:cNvPr>
          <p:cNvPicPr>
            <a:picLocks noChangeAspect="1"/>
          </p:cNvPicPr>
          <p:nvPr/>
        </p:nvPicPr>
        <p:blipFill>
          <a:blip r:embed="rId4"/>
          <a:stretch>
            <a:fillRect/>
          </a:stretch>
        </p:blipFill>
        <p:spPr>
          <a:xfrm>
            <a:off x="9742466" y="18288"/>
            <a:ext cx="2429214" cy="7811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rot="-1080000">
            <a:off x="-2011680" y="1828800"/>
            <a:ext cx="15544800" cy="3657600"/>
          </a:xfrm>
          <a:prstGeom prst="rect">
            <a:avLst/>
          </a:prstGeom>
          <a:noFill/>
          <a:ln/>
        </p:spPr>
        <p:txBody>
          <a:bodyPr wrap="square" lIns="0" tIns="0" rIns="0" bIns="0" rtlCol="0" anchor="ctr"/>
          <a:lstStyle/>
          <a:p>
            <a:pPr marL="0" indent="0" algn="ctr">
              <a:buNone/>
            </a:pPr>
            <a:r>
              <a:rPr lang="en-US" sz="26000" b="1" dirty="0">
                <a:solidFill>
                  <a:srgbClr val="EFF3E0"/>
                </a:solidFill>
                <a:latin typeface="Arial Black" pitchFamily="34" charset="0"/>
                <a:ea typeface="Arial Black" pitchFamily="34" charset="-122"/>
                <a:cs typeface="Arial Black" pitchFamily="34" charset="-120"/>
              </a:rPr>
              <a:t>OLA</a:t>
            </a:r>
            <a:endParaRPr lang="en-US" sz="26000" dirty="0"/>
          </a:p>
        </p:txBody>
      </p:sp>
      <p:sp>
        <p:nvSpPr>
          <p:cNvPr id="3" name="Shape 1"/>
          <p:cNvSpPr/>
          <p:nvPr/>
        </p:nvSpPr>
        <p:spPr>
          <a:xfrm>
            <a:off x="0" y="73152"/>
            <a:ext cx="566928" cy="566928"/>
          </a:xfrm>
          <a:prstGeom prst="roundRect">
            <a:avLst>
              <a:gd name="adj" fmla="val 19355"/>
            </a:avLst>
          </a:prstGeom>
          <a:solidFill>
            <a:srgbClr val="141414"/>
          </a:solidFill>
          <a:ln/>
        </p:spPr>
      </p:sp>
      <p:sp>
        <p:nvSpPr>
          <p:cNvPr id="4" name="Text 2"/>
          <p:cNvSpPr/>
          <p:nvPr/>
        </p:nvSpPr>
        <p:spPr>
          <a:xfrm>
            <a:off x="7315" y="73152"/>
            <a:ext cx="566928" cy="566928"/>
          </a:xfrm>
          <a:prstGeom prst="rect">
            <a:avLst/>
          </a:prstGeom>
          <a:noFill/>
          <a:ln/>
        </p:spPr>
        <p:txBody>
          <a:bodyPr wrap="square" lIns="0" tIns="0" rIns="0" bIns="0" rtlCol="0" anchor="ctr"/>
          <a:lstStyle/>
          <a:p>
            <a:pPr marL="0" indent="0" algn="ctr">
              <a:buNone/>
            </a:pPr>
            <a:r>
              <a:rPr lang="en-US" sz="1000" b="1" dirty="0">
                <a:solidFill>
                  <a:srgbClr val="C9F031"/>
                </a:solidFill>
                <a:latin typeface="Arial Black" pitchFamily="34" charset="0"/>
                <a:ea typeface="Arial Black" pitchFamily="34" charset="-122"/>
                <a:cs typeface="Arial Black" pitchFamily="34" charset="-120"/>
              </a:rPr>
              <a:t>OLA</a:t>
            </a:r>
            <a:endParaRPr lang="en-US" sz="1000" dirty="0"/>
          </a:p>
        </p:txBody>
      </p:sp>
      <p:sp>
        <p:nvSpPr>
          <p:cNvPr id="5" name="Text 3"/>
          <p:cNvSpPr/>
          <p:nvPr/>
        </p:nvSpPr>
        <p:spPr>
          <a:xfrm>
            <a:off x="640080" y="411480"/>
            <a:ext cx="10058400" cy="457200"/>
          </a:xfrm>
          <a:prstGeom prst="rect">
            <a:avLst/>
          </a:prstGeom>
          <a:noFill/>
          <a:ln/>
        </p:spPr>
        <p:txBody>
          <a:bodyPr wrap="square" lIns="0" tIns="0" rIns="0" bIns="0" rtlCol="0" anchor="ctr"/>
          <a:lstStyle/>
          <a:p>
            <a:pPr marL="0" indent="0">
              <a:buNone/>
            </a:pPr>
            <a:r>
              <a:rPr lang="en-US" sz="2300" b="1" dirty="0">
                <a:solidFill>
                  <a:srgbClr val="1C1C1C"/>
                </a:solidFill>
                <a:latin typeface="Georgia" pitchFamily="34" charset="0"/>
                <a:ea typeface="Georgia" pitchFamily="34" charset="-122"/>
                <a:cs typeface="Georgia" pitchFamily="34" charset="-120"/>
              </a:rPr>
              <a:t>Dashboard Page 2 — Demand &amp; Customer Insights</a:t>
            </a:r>
            <a:endParaRPr lang="en-US" sz="2300" dirty="0"/>
          </a:p>
        </p:txBody>
      </p:sp>
      <p:sp>
        <p:nvSpPr>
          <p:cNvPr id="6" name="Text 4"/>
          <p:cNvSpPr/>
          <p:nvPr/>
        </p:nvSpPr>
        <p:spPr>
          <a:xfrm>
            <a:off x="640080" y="868680"/>
            <a:ext cx="9601200" cy="365760"/>
          </a:xfrm>
          <a:prstGeom prst="rect">
            <a:avLst/>
          </a:prstGeom>
          <a:noFill/>
          <a:ln/>
        </p:spPr>
        <p:txBody>
          <a:bodyPr wrap="square" lIns="0" tIns="0" rIns="0" bIns="0" rtlCol="0" anchor="ctr"/>
          <a:lstStyle/>
          <a:p>
            <a:pPr marL="0" indent="0">
              <a:buNone/>
            </a:pPr>
            <a:r>
              <a:rPr lang="en-US" sz="1250" dirty="0">
                <a:solidFill>
                  <a:srgbClr val="6E6E6E"/>
                </a:solidFill>
                <a:latin typeface="Arial" pitchFamily="34" charset="0"/>
                <a:ea typeface="Arial" pitchFamily="34" charset="-122"/>
                <a:cs typeface="Arial" pitchFamily="34" charset="-120"/>
              </a:rPr>
              <a:t>When customers book, and who they are</a:t>
            </a:r>
            <a:endParaRPr lang="en-US" sz="1250" dirty="0"/>
          </a:p>
        </p:txBody>
      </p:sp>
      <p:sp>
        <p:nvSpPr>
          <p:cNvPr id="7" name="Shape 5"/>
          <p:cNvSpPr/>
          <p:nvPr/>
        </p:nvSpPr>
        <p:spPr>
          <a:xfrm>
            <a:off x="640080" y="1417320"/>
            <a:ext cx="10881360" cy="3657600"/>
          </a:xfrm>
          <a:prstGeom prst="roundRect">
            <a:avLst>
              <a:gd name="adj" fmla="val 1500"/>
            </a:avLst>
          </a:prstGeom>
          <a:solidFill>
            <a:srgbClr val="FBFBF8"/>
          </a:solidFill>
          <a:ln w="19050">
            <a:solidFill>
              <a:srgbClr val="C7CBB8"/>
            </a:solidFill>
            <a:prstDash val="dash"/>
          </a:ln>
        </p:spPr>
      </p:sp>
      <p:sp>
        <p:nvSpPr>
          <p:cNvPr id="8" name="Text 6"/>
          <p:cNvSpPr/>
          <p:nvPr/>
        </p:nvSpPr>
        <p:spPr>
          <a:xfrm>
            <a:off x="640080" y="2926080"/>
            <a:ext cx="10881360" cy="365760"/>
          </a:xfrm>
          <a:prstGeom prst="rect">
            <a:avLst/>
          </a:prstGeom>
          <a:noFill/>
          <a:ln/>
        </p:spPr>
        <p:txBody>
          <a:bodyPr wrap="square" lIns="0" tIns="0" rIns="0" bIns="0" rtlCol="0" anchor="ctr"/>
          <a:lstStyle/>
          <a:p>
            <a:pPr marL="0" indent="0" algn="ctr">
              <a:buNone/>
            </a:pPr>
            <a:r>
              <a:rPr lang="en-US" sz="1300" b="1" kern="0" spc="200" dirty="0">
                <a:solidFill>
                  <a:srgbClr val="9A9E86"/>
                </a:solidFill>
                <a:latin typeface="Arial" pitchFamily="34" charset="0"/>
                <a:ea typeface="Arial" pitchFamily="34" charset="-122"/>
                <a:cs typeface="Arial" pitchFamily="34" charset="-120"/>
              </a:rPr>
              <a:t>SCREENSHOT OF POWER BI REPORT PAGE</a:t>
            </a:r>
            <a:endParaRPr lang="en-US" sz="1300" dirty="0"/>
          </a:p>
        </p:txBody>
      </p:sp>
      <p:sp>
        <p:nvSpPr>
          <p:cNvPr id="9" name="Text 7"/>
          <p:cNvSpPr/>
          <p:nvPr/>
        </p:nvSpPr>
        <p:spPr>
          <a:xfrm>
            <a:off x="640080" y="3337560"/>
            <a:ext cx="10881360" cy="365760"/>
          </a:xfrm>
          <a:prstGeom prst="rect">
            <a:avLst/>
          </a:prstGeom>
          <a:noFill/>
          <a:ln/>
        </p:spPr>
        <p:txBody>
          <a:bodyPr wrap="square" lIns="0" tIns="0" rIns="0" bIns="0" rtlCol="0" anchor="ctr"/>
          <a:lstStyle/>
          <a:p>
            <a:pPr marL="0" indent="0" algn="ctr">
              <a:buNone/>
            </a:pPr>
            <a:r>
              <a:rPr lang="en-US" sz="1100" i="1" dirty="0">
                <a:solidFill>
                  <a:srgbClr val="B3B7A0"/>
                </a:solidFill>
                <a:latin typeface="Arial" pitchFamily="34" charset="0"/>
                <a:ea typeface="Arial" pitchFamily="34" charset="-122"/>
                <a:cs typeface="Arial" pitchFamily="34" charset="-120"/>
              </a:rPr>
              <a:t>( paste "Dashboard Page 2 — Demand &amp; Customer Insights" page render here )</a:t>
            </a:r>
            <a:endParaRPr lang="en-US" sz="1100" dirty="0"/>
          </a:p>
        </p:txBody>
      </p:sp>
      <p:sp>
        <p:nvSpPr>
          <p:cNvPr id="10" name="Text 8"/>
          <p:cNvSpPr/>
          <p:nvPr/>
        </p:nvSpPr>
        <p:spPr>
          <a:xfrm>
            <a:off x="914400" y="5257800"/>
            <a:ext cx="5486400" cy="274320"/>
          </a:xfrm>
          <a:prstGeom prst="rect">
            <a:avLst/>
          </a:prstGeom>
          <a:noFill/>
          <a:ln/>
        </p:spPr>
        <p:txBody>
          <a:bodyPr wrap="square" lIns="0" tIns="0" rIns="0" bIns="0" rtlCol="0" anchor="ctr"/>
          <a:lstStyle/>
          <a:p>
            <a:pPr marL="0" indent="0">
              <a:buNone/>
            </a:pPr>
            <a:r>
              <a:rPr lang="en-US" sz="1050" b="1" dirty="0">
                <a:solidFill>
                  <a:srgbClr val="1C1C1C"/>
                </a:solidFill>
                <a:latin typeface="Arial" pitchFamily="34" charset="0"/>
                <a:ea typeface="Arial" pitchFamily="34" charset="-122"/>
                <a:cs typeface="Arial" pitchFamily="34" charset="-120"/>
              </a:rPr>
              <a:t>Key elements on this page:</a:t>
            </a:r>
            <a:endParaRPr lang="en-US" sz="1050" dirty="0"/>
          </a:p>
        </p:txBody>
      </p:sp>
      <p:sp>
        <p:nvSpPr>
          <p:cNvPr id="11" name="Text 9"/>
          <p:cNvSpPr/>
          <p:nvPr/>
        </p:nvSpPr>
        <p:spPr>
          <a:xfrm>
            <a:off x="914400" y="5532120"/>
            <a:ext cx="10241280" cy="274320"/>
          </a:xfrm>
          <a:prstGeom prst="rect">
            <a:avLst/>
          </a:prstGeom>
          <a:noFill/>
          <a:ln/>
        </p:spPr>
        <p:txBody>
          <a:bodyPr wrap="square" lIns="0" tIns="0" rIns="0" bIns="0" rtlCol="0" anchor="ctr"/>
          <a:lstStyle/>
          <a:p>
            <a:pPr marL="0" indent="0">
              <a:buNone/>
            </a:pPr>
            <a:r>
              <a:rPr lang="en-US" sz="950" dirty="0">
                <a:solidFill>
                  <a:srgbClr val="6E6E6E"/>
                </a:solidFill>
                <a:latin typeface="Arial" pitchFamily="34" charset="0"/>
                <a:ea typeface="Arial" pitchFamily="34" charset="-122"/>
                <a:cs typeface="Arial" pitchFamily="34" charset="-120"/>
              </a:rPr>
              <a:t>Peak Booking Hour   •   Most Popular Day   •   Premium Customer Share %   •   Total Revenue</a:t>
            </a:r>
            <a:endParaRPr lang="en-US" sz="950" dirty="0"/>
          </a:p>
        </p:txBody>
      </p:sp>
      <p:sp>
        <p:nvSpPr>
          <p:cNvPr id="12" name="Text 10"/>
          <p:cNvSpPr/>
          <p:nvPr/>
        </p:nvSpPr>
        <p:spPr>
          <a:xfrm>
            <a:off x="914400" y="5779008"/>
            <a:ext cx="10241280" cy="274320"/>
          </a:xfrm>
          <a:prstGeom prst="rect">
            <a:avLst/>
          </a:prstGeom>
          <a:noFill/>
          <a:ln/>
        </p:spPr>
        <p:txBody>
          <a:bodyPr wrap="square" lIns="0" tIns="0" rIns="0" bIns="0" rtlCol="0" anchor="ctr"/>
          <a:lstStyle/>
          <a:p>
            <a:pPr marL="0" indent="0">
              <a:buNone/>
            </a:pPr>
            <a:r>
              <a:rPr lang="en-US" sz="950" dirty="0">
                <a:solidFill>
                  <a:srgbClr val="6E6E6E"/>
                </a:solidFill>
                <a:latin typeface="Arial" pitchFamily="34" charset="0"/>
                <a:ea typeface="Arial" pitchFamily="34" charset="-122"/>
                <a:cs typeface="Arial" pitchFamily="34" charset="-120"/>
              </a:rPr>
              <a:t>Booking over Time (by Day/Hour)   •   Revenue over Customer Type   •   Booking over Customer Type   •   Booking over Gender by Purpose</a:t>
            </a:r>
            <a:endParaRPr lang="en-US" sz="950" dirty="0"/>
          </a:p>
        </p:txBody>
      </p:sp>
      <p:sp>
        <p:nvSpPr>
          <p:cNvPr id="13" name="Text 11"/>
          <p:cNvSpPr/>
          <p:nvPr/>
        </p:nvSpPr>
        <p:spPr>
          <a:xfrm>
            <a:off x="457200" y="6473952"/>
            <a:ext cx="7315200" cy="274320"/>
          </a:xfrm>
          <a:prstGeom prst="rect">
            <a:avLst/>
          </a:prstGeom>
          <a:noFill/>
          <a:ln/>
        </p:spPr>
        <p:txBody>
          <a:bodyPr wrap="square" lIns="0" tIns="0" rIns="0" bIns="0" rtlCol="0" anchor="ctr"/>
          <a:lstStyle/>
          <a:p>
            <a:pPr marL="0" indent="0">
              <a:buNone/>
            </a:pPr>
            <a:r>
              <a:rPr lang="en-US" sz="900" kern="0" spc="200" dirty="0">
                <a:latin typeface="Arial" pitchFamily="34" charset="0"/>
                <a:ea typeface="Arial" pitchFamily="34" charset="-122"/>
                <a:cs typeface="Arial" pitchFamily="34" charset="-120"/>
              </a:rPr>
              <a:t>OLA . POWER BI PROJECT</a:t>
            </a:r>
            <a:endParaRPr lang="en-US" sz="900" dirty="0"/>
          </a:p>
        </p:txBody>
      </p:sp>
      <p:sp>
        <p:nvSpPr>
          <p:cNvPr id="14" name="Text 12"/>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9A9A9A"/>
                </a:solidFill>
                <a:latin typeface="Arial" pitchFamily="34" charset="0"/>
                <a:ea typeface="Arial" pitchFamily="34" charset="-122"/>
                <a:cs typeface="Arial" pitchFamily="34" charset="-120"/>
              </a:rPr>
              <a:t>04</a:t>
            </a:r>
            <a:endParaRPr lang="en-US" sz="900" dirty="0"/>
          </a:p>
        </p:txBody>
      </p:sp>
      <p:pic>
        <p:nvPicPr>
          <p:cNvPr id="16" name="Picture 15">
            <a:extLst>
              <a:ext uri="{FF2B5EF4-FFF2-40B4-BE49-F238E27FC236}">
                <a16:creationId xmlns:a16="http://schemas.microsoft.com/office/drawing/2014/main" id="{257A3C12-741A-3294-0AF5-6ABA00130386}"/>
              </a:ext>
            </a:extLst>
          </p:cNvPr>
          <p:cNvPicPr>
            <a:picLocks noChangeAspect="1"/>
          </p:cNvPicPr>
          <p:nvPr/>
        </p:nvPicPr>
        <p:blipFill>
          <a:blip r:embed="rId3"/>
          <a:stretch>
            <a:fillRect/>
          </a:stretch>
        </p:blipFill>
        <p:spPr>
          <a:xfrm>
            <a:off x="640080" y="1325880"/>
            <a:ext cx="10911840" cy="3753612"/>
          </a:xfrm>
          <a:prstGeom prst="rect">
            <a:avLst/>
          </a:prstGeom>
        </p:spPr>
      </p:pic>
      <p:pic>
        <p:nvPicPr>
          <p:cNvPr id="18" name="Picture 17">
            <a:extLst>
              <a:ext uri="{FF2B5EF4-FFF2-40B4-BE49-F238E27FC236}">
                <a16:creationId xmlns:a16="http://schemas.microsoft.com/office/drawing/2014/main" id="{E3B914F8-004B-E5C7-B49F-22116A250880}"/>
              </a:ext>
            </a:extLst>
          </p:cNvPr>
          <p:cNvPicPr>
            <a:picLocks noChangeAspect="1"/>
          </p:cNvPicPr>
          <p:nvPr/>
        </p:nvPicPr>
        <p:blipFill>
          <a:blip r:embed="rId4"/>
          <a:stretch>
            <a:fillRect/>
          </a:stretch>
        </p:blipFill>
        <p:spPr>
          <a:xfrm>
            <a:off x="9755471" y="16982"/>
            <a:ext cx="2429214" cy="7811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rot="-1080000">
            <a:off x="-2011680" y="1828800"/>
            <a:ext cx="15544800" cy="3657600"/>
          </a:xfrm>
          <a:prstGeom prst="rect">
            <a:avLst/>
          </a:prstGeom>
          <a:noFill/>
          <a:ln/>
        </p:spPr>
        <p:txBody>
          <a:bodyPr wrap="square" lIns="0" tIns="0" rIns="0" bIns="0" rtlCol="0" anchor="ctr"/>
          <a:lstStyle/>
          <a:p>
            <a:pPr marL="0" indent="0" algn="ctr">
              <a:buNone/>
            </a:pPr>
            <a:r>
              <a:rPr lang="en-US" sz="26000" b="1" dirty="0">
                <a:solidFill>
                  <a:srgbClr val="EFF3E0"/>
                </a:solidFill>
                <a:latin typeface="Arial Black" pitchFamily="34" charset="0"/>
                <a:ea typeface="Arial Black" pitchFamily="34" charset="-122"/>
                <a:cs typeface="Arial Black" pitchFamily="34" charset="-120"/>
              </a:rPr>
              <a:t>OLA</a:t>
            </a:r>
            <a:endParaRPr lang="en-US" sz="26000" dirty="0"/>
          </a:p>
        </p:txBody>
      </p:sp>
      <p:sp>
        <p:nvSpPr>
          <p:cNvPr id="3" name="Shape 1"/>
          <p:cNvSpPr/>
          <p:nvPr/>
        </p:nvSpPr>
        <p:spPr>
          <a:xfrm>
            <a:off x="0" y="51328"/>
            <a:ext cx="566928" cy="566928"/>
          </a:xfrm>
          <a:prstGeom prst="roundRect">
            <a:avLst>
              <a:gd name="adj" fmla="val 19355"/>
            </a:avLst>
          </a:prstGeom>
          <a:solidFill>
            <a:srgbClr val="141414"/>
          </a:solidFill>
          <a:ln/>
        </p:spPr>
      </p:sp>
      <p:sp>
        <p:nvSpPr>
          <p:cNvPr id="4" name="Text 2"/>
          <p:cNvSpPr/>
          <p:nvPr/>
        </p:nvSpPr>
        <p:spPr>
          <a:xfrm>
            <a:off x="0" y="0"/>
            <a:ext cx="566928" cy="566928"/>
          </a:xfrm>
          <a:prstGeom prst="rect">
            <a:avLst/>
          </a:prstGeom>
          <a:noFill/>
          <a:ln/>
        </p:spPr>
        <p:txBody>
          <a:bodyPr wrap="square" lIns="0" tIns="0" rIns="0" bIns="0" rtlCol="0" anchor="ctr"/>
          <a:lstStyle/>
          <a:p>
            <a:pPr marL="0" indent="0" algn="ctr">
              <a:buNone/>
            </a:pPr>
            <a:r>
              <a:rPr lang="en-US" sz="1000" b="1" dirty="0">
                <a:solidFill>
                  <a:srgbClr val="C9F031"/>
                </a:solidFill>
                <a:latin typeface="Arial Black" pitchFamily="34" charset="0"/>
                <a:ea typeface="Arial Black" pitchFamily="34" charset="-122"/>
                <a:cs typeface="Arial Black" pitchFamily="34" charset="-120"/>
              </a:rPr>
              <a:t>OLA</a:t>
            </a:r>
            <a:endParaRPr lang="en-US" sz="1000" dirty="0"/>
          </a:p>
        </p:txBody>
      </p:sp>
      <p:sp>
        <p:nvSpPr>
          <p:cNvPr id="5" name="Text 3"/>
          <p:cNvSpPr/>
          <p:nvPr/>
        </p:nvSpPr>
        <p:spPr>
          <a:xfrm>
            <a:off x="640080" y="457200"/>
            <a:ext cx="8229600" cy="457200"/>
          </a:xfrm>
          <a:prstGeom prst="rect">
            <a:avLst/>
          </a:prstGeom>
          <a:noFill/>
          <a:ln/>
        </p:spPr>
        <p:txBody>
          <a:bodyPr wrap="square" lIns="0" tIns="0" rIns="0" bIns="0" rtlCol="0" anchor="ctr"/>
          <a:lstStyle/>
          <a:p>
            <a:pPr marL="0" indent="0">
              <a:buNone/>
            </a:pPr>
            <a:r>
              <a:rPr lang="en-US" sz="2600" b="1" dirty="0">
                <a:solidFill>
                  <a:srgbClr val="1C1C1C"/>
                </a:solidFill>
                <a:latin typeface="Georgia" pitchFamily="34" charset="0"/>
                <a:ea typeface="Georgia" pitchFamily="34" charset="-122"/>
                <a:cs typeface="Georgia" pitchFamily="34" charset="-120"/>
              </a:rPr>
              <a:t>Measures Used in the Model</a:t>
            </a:r>
            <a:endParaRPr lang="en-US" sz="2600" dirty="0"/>
          </a:p>
        </p:txBody>
      </p:sp>
      <p:sp>
        <p:nvSpPr>
          <p:cNvPr id="6" name="Text 4"/>
          <p:cNvSpPr/>
          <p:nvPr/>
        </p:nvSpPr>
        <p:spPr>
          <a:xfrm>
            <a:off x="640080" y="914400"/>
            <a:ext cx="10058400" cy="365760"/>
          </a:xfrm>
          <a:prstGeom prst="rect">
            <a:avLst/>
          </a:prstGeom>
          <a:noFill/>
          <a:ln/>
        </p:spPr>
        <p:txBody>
          <a:bodyPr wrap="square" lIns="0" tIns="0" rIns="0" bIns="0" rtlCol="0" anchor="ctr"/>
          <a:lstStyle/>
          <a:p>
            <a:pPr marL="0" indent="0">
              <a:buNone/>
            </a:pPr>
            <a:r>
              <a:rPr lang="en-US" sz="1250" dirty="0">
                <a:solidFill>
                  <a:srgbClr val="6E6E6E"/>
                </a:solidFill>
                <a:latin typeface="Arial" pitchFamily="34" charset="0"/>
                <a:ea typeface="Arial" pitchFamily="34" charset="-122"/>
                <a:cs typeface="Arial" pitchFamily="34" charset="-120"/>
              </a:rPr>
              <a:t>All DAX measures built for this dashboard — add the exact formula text from Power BI Desktop</a:t>
            </a:r>
            <a:endParaRPr lang="en-US" sz="1250" dirty="0"/>
          </a:p>
        </p:txBody>
      </p:sp>
      <p:sp>
        <p:nvSpPr>
          <p:cNvPr id="7" name="Shape 5"/>
          <p:cNvSpPr/>
          <p:nvPr/>
        </p:nvSpPr>
        <p:spPr>
          <a:xfrm>
            <a:off x="640080" y="1554480"/>
            <a:ext cx="10881360" cy="457200"/>
          </a:xfrm>
          <a:prstGeom prst="rect">
            <a:avLst/>
          </a:prstGeom>
          <a:solidFill>
            <a:srgbClr val="141414"/>
          </a:solidFill>
          <a:ln/>
        </p:spPr>
      </p:sp>
      <p:sp>
        <p:nvSpPr>
          <p:cNvPr id="8" name="Text 6"/>
          <p:cNvSpPr/>
          <p:nvPr/>
        </p:nvSpPr>
        <p:spPr>
          <a:xfrm>
            <a:off x="822960" y="1554480"/>
            <a:ext cx="3063240" cy="457200"/>
          </a:xfrm>
          <a:prstGeom prst="rect">
            <a:avLst/>
          </a:prstGeom>
          <a:noFill/>
          <a:ln/>
        </p:spPr>
        <p:txBody>
          <a:bodyPr wrap="square" lIns="0" tIns="0" rIns="0" bIns="0" rtlCol="0" anchor="ctr"/>
          <a:lstStyle/>
          <a:p>
            <a:pPr marL="0" indent="0">
              <a:buNone/>
            </a:pPr>
            <a:r>
              <a:rPr lang="en-US" sz="1100" b="1" kern="0" spc="100" dirty="0">
                <a:solidFill>
                  <a:srgbClr val="C9F031"/>
                </a:solidFill>
                <a:latin typeface="Arial" pitchFamily="34" charset="0"/>
                <a:ea typeface="Arial" pitchFamily="34" charset="-122"/>
                <a:cs typeface="Arial" pitchFamily="34" charset="-120"/>
              </a:rPr>
              <a:t>MEASURE</a:t>
            </a:r>
            <a:endParaRPr lang="en-US" sz="1100" dirty="0"/>
          </a:p>
        </p:txBody>
      </p:sp>
      <p:sp>
        <p:nvSpPr>
          <p:cNvPr id="9" name="Text 7"/>
          <p:cNvSpPr/>
          <p:nvPr/>
        </p:nvSpPr>
        <p:spPr>
          <a:xfrm>
            <a:off x="4069080" y="1554480"/>
            <a:ext cx="7269480" cy="457200"/>
          </a:xfrm>
          <a:prstGeom prst="rect">
            <a:avLst/>
          </a:prstGeom>
          <a:noFill/>
          <a:ln/>
        </p:spPr>
        <p:txBody>
          <a:bodyPr wrap="square" lIns="0" tIns="0" rIns="0" bIns="0" rtlCol="0" anchor="ctr"/>
          <a:lstStyle/>
          <a:p>
            <a:pPr marL="0" indent="0">
              <a:buNone/>
            </a:pPr>
            <a:r>
              <a:rPr lang="en-US" sz="1100" b="1" kern="0" spc="100" dirty="0">
                <a:solidFill>
                  <a:srgbClr val="C9F031"/>
                </a:solidFill>
                <a:latin typeface="Arial" pitchFamily="34" charset="0"/>
                <a:ea typeface="Arial" pitchFamily="34" charset="-122"/>
                <a:cs typeface="Arial" pitchFamily="34" charset="-120"/>
              </a:rPr>
              <a:t>DAX FORMULA</a:t>
            </a:r>
            <a:endParaRPr lang="en-US" sz="1100" dirty="0"/>
          </a:p>
        </p:txBody>
      </p:sp>
      <p:sp>
        <p:nvSpPr>
          <p:cNvPr id="10" name="Text 8"/>
          <p:cNvSpPr/>
          <p:nvPr/>
        </p:nvSpPr>
        <p:spPr>
          <a:xfrm>
            <a:off x="822960" y="2011680"/>
            <a:ext cx="2971800" cy="576072"/>
          </a:xfrm>
          <a:prstGeom prst="rect">
            <a:avLst/>
          </a:prstGeom>
          <a:noFill/>
          <a:ln/>
        </p:spPr>
        <p:txBody>
          <a:bodyPr wrap="square" lIns="0" tIns="0" rIns="0" bIns="0" rtlCol="0" anchor="ctr"/>
          <a:lstStyle/>
          <a:p>
            <a:pPr marL="0" indent="0">
              <a:buNone/>
            </a:pPr>
            <a:r>
              <a:rPr lang="en-US" sz="1100" b="1" dirty="0">
                <a:solidFill>
                  <a:srgbClr val="1C1C1C"/>
                </a:solidFill>
                <a:latin typeface="Arial" pitchFamily="34" charset="0"/>
                <a:ea typeface="Arial" pitchFamily="34" charset="-122"/>
                <a:cs typeface="Arial" pitchFamily="34" charset="-120"/>
              </a:rPr>
              <a:t>Total Booking</a:t>
            </a:r>
            <a:endParaRPr lang="en-US" sz="1100" dirty="0"/>
          </a:p>
        </p:txBody>
      </p:sp>
      <p:sp>
        <p:nvSpPr>
          <p:cNvPr id="11" name="Text 9"/>
          <p:cNvSpPr/>
          <p:nvPr/>
        </p:nvSpPr>
        <p:spPr>
          <a:xfrm>
            <a:off x="4069080" y="2011680"/>
            <a:ext cx="7269480" cy="576072"/>
          </a:xfrm>
          <a:prstGeom prst="rect">
            <a:avLst/>
          </a:prstGeom>
          <a:noFill/>
          <a:ln/>
        </p:spPr>
        <p:txBody>
          <a:bodyPr wrap="square" lIns="0" tIns="0" rIns="0" bIns="0" rtlCol="0" anchor="ctr"/>
          <a:lstStyle/>
          <a:p>
            <a:r>
              <a:rPr lang="en-IN" dirty="0"/>
              <a:t>Total Booking = COUNTROWS(Data)</a:t>
            </a:r>
          </a:p>
        </p:txBody>
      </p:sp>
      <p:sp>
        <p:nvSpPr>
          <p:cNvPr id="12" name="Shape 10"/>
          <p:cNvSpPr/>
          <p:nvPr/>
        </p:nvSpPr>
        <p:spPr>
          <a:xfrm>
            <a:off x="640080" y="2587752"/>
            <a:ext cx="10881360" cy="0"/>
          </a:xfrm>
          <a:prstGeom prst="line">
            <a:avLst/>
          </a:prstGeom>
          <a:noFill/>
          <a:ln w="9525">
            <a:solidFill>
              <a:srgbClr val="E4E4E4"/>
            </a:solidFill>
            <a:prstDash val="solid"/>
          </a:ln>
        </p:spPr>
      </p:sp>
      <p:sp>
        <p:nvSpPr>
          <p:cNvPr id="13" name="Shape 11"/>
          <p:cNvSpPr/>
          <p:nvPr/>
        </p:nvSpPr>
        <p:spPr>
          <a:xfrm>
            <a:off x="640080" y="2587752"/>
            <a:ext cx="10881360" cy="576072"/>
          </a:xfrm>
          <a:prstGeom prst="rect">
            <a:avLst/>
          </a:prstGeom>
          <a:solidFill>
            <a:srgbClr val="F7F8F3"/>
          </a:solidFill>
          <a:ln/>
        </p:spPr>
      </p:sp>
      <p:sp>
        <p:nvSpPr>
          <p:cNvPr id="14" name="Text 12"/>
          <p:cNvSpPr/>
          <p:nvPr/>
        </p:nvSpPr>
        <p:spPr>
          <a:xfrm>
            <a:off x="822960" y="2587752"/>
            <a:ext cx="2971800" cy="576072"/>
          </a:xfrm>
          <a:prstGeom prst="rect">
            <a:avLst/>
          </a:prstGeom>
          <a:noFill/>
          <a:ln/>
        </p:spPr>
        <p:txBody>
          <a:bodyPr wrap="square" lIns="0" tIns="0" rIns="0" bIns="0" rtlCol="0" anchor="ctr"/>
          <a:lstStyle/>
          <a:p>
            <a:pPr marL="0" indent="0">
              <a:buNone/>
            </a:pPr>
            <a:r>
              <a:rPr lang="en-US" sz="1100" b="1" dirty="0">
                <a:solidFill>
                  <a:srgbClr val="1C1C1C"/>
                </a:solidFill>
                <a:latin typeface="Arial" pitchFamily="34" charset="0"/>
                <a:ea typeface="Arial" pitchFamily="34" charset="-122"/>
                <a:cs typeface="Arial" pitchFamily="34" charset="-120"/>
              </a:rPr>
              <a:t>Average DistanceTravel</a:t>
            </a:r>
            <a:endParaRPr lang="en-US" sz="1100" dirty="0"/>
          </a:p>
        </p:txBody>
      </p:sp>
      <p:sp>
        <p:nvSpPr>
          <p:cNvPr id="15" name="Text 13"/>
          <p:cNvSpPr/>
          <p:nvPr/>
        </p:nvSpPr>
        <p:spPr>
          <a:xfrm>
            <a:off x="4069080" y="2587752"/>
            <a:ext cx="7269480" cy="576072"/>
          </a:xfrm>
          <a:prstGeom prst="rect">
            <a:avLst/>
          </a:prstGeom>
          <a:noFill/>
          <a:ln/>
        </p:spPr>
        <p:txBody>
          <a:bodyPr wrap="square" lIns="0" tIns="0" rIns="0" bIns="0" rtlCol="0" anchor="ctr"/>
          <a:lstStyle/>
          <a:p>
            <a:r>
              <a:rPr lang="en-IN" dirty="0"/>
              <a:t>Average </a:t>
            </a:r>
            <a:r>
              <a:rPr lang="en-IN" dirty="0" err="1"/>
              <a:t>DistanceTravel</a:t>
            </a:r>
            <a:r>
              <a:rPr lang="en-IN" dirty="0"/>
              <a:t> = AVERAGE(Data[</a:t>
            </a:r>
            <a:r>
              <a:rPr lang="en-IN" dirty="0" err="1"/>
              <a:t>distance_travelled</a:t>
            </a:r>
            <a:r>
              <a:rPr lang="en-IN" dirty="0"/>
              <a:t>])</a:t>
            </a:r>
          </a:p>
        </p:txBody>
      </p:sp>
      <p:sp>
        <p:nvSpPr>
          <p:cNvPr id="16" name="Shape 14"/>
          <p:cNvSpPr/>
          <p:nvPr/>
        </p:nvSpPr>
        <p:spPr>
          <a:xfrm>
            <a:off x="640080" y="3163824"/>
            <a:ext cx="10881360" cy="0"/>
          </a:xfrm>
          <a:prstGeom prst="line">
            <a:avLst/>
          </a:prstGeom>
          <a:noFill/>
          <a:ln w="9525">
            <a:solidFill>
              <a:srgbClr val="E4E4E4"/>
            </a:solidFill>
            <a:prstDash val="solid"/>
          </a:ln>
        </p:spPr>
      </p:sp>
      <p:sp>
        <p:nvSpPr>
          <p:cNvPr id="17" name="Text 15"/>
          <p:cNvSpPr/>
          <p:nvPr/>
        </p:nvSpPr>
        <p:spPr>
          <a:xfrm>
            <a:off x="822960" y="3163824"/>
            <a:ext cx="2971800" cy="576072"/>
          </a:xfrm>
          <a:prstGeom prst="rect">
            <a:avLst/>
          </a:prstGeom>
          <a:noFill/>
          <a:ln/>
        </p:spPr>
        <p:txBody>
          <a:bodyPr wrap="square" lIns="0" tIns="0" rIns="0" bIns="0" rtlCol="0" anchor="ctr"/>
          <a:lstStyle/>
          <a:p>
            <a:pPr marL="0" indent="0">
              <a:buNone/>
            </a:pPr>
            <a:r>
              <a:rPr lang="en-US" sz="1100" b="1" dirty="0">
                <a:solidFill>
                  <a:srgbClr val="1C1C1C"/>
                </a:solidFill>
                <a:latin typeface="Arial" pitchFamily="34" charset="0"/>
                <a:ea typeface="Arial" pitchFamily="34" charset="-122"/>
                <a:cs typeface="Arial" pitchFamily="34" charset="-120"/>
              </a:rPr>
              <a:t>Average Duration Taken</a:t>
            </a:r>
            <a:endParaRPr lang="en-US" sz="1100" dirty="0"/>
          </a:p>
        </p:txBody>
      </p:sp>
      <p:sp>
        <p:nvSpPr>
          <p:cNvPr id="18" name="Text 16"/>
          <p:cNvSpPr/>
          <p:nvPr/>
        </p:nvSpPr>
        <p:spPr>
          <a:xfrm>
            <a:off x="4069080" y="3163824"/>
            <a:ext cx="7269480" cy="576072"/>
          </a:xfrm>
          <a:prstGeom prst="rect">
            <a:avLst/>
          </a:prstGeom>
          <a:noFill/>
          <a:ln/>
        </p:spPr>
        <p:txBody>
          <a:bodyPr wrap="square" lIns="0" tIns="0" rIns="0" bIns="0" rtlCol="0" anchor="ctr"/>
          <a:lstStyle/>
          <a:p>
            <a:r>
              <a:rPr lang="en-IN" dirty="0"/>
              <a:t>Average Duration Taken = AVERAGE(Data[</a:t>
            </a:r>
            <a:r>
              <a:rPr lang="en-IN" dirty="0" err="1"/>
              <a:t>time_taken</a:t>
            </a:r>
            <a:r>
              <a:rPr lang="en-IN" dirty="0"/>
              <a:t>])</a:t>
            </a:r>
          </a:p>
        </p:txBody>
      </p:sp>
      <p:sp>
        <p:nvSpPr>
          <p:cNvPr id="19" name="Shape 17"/>
          <p:cNvSpPr/>
          <p:nvPr/>
        </p:nvSpPr>
        <p:spPr>
          <a:xfrm>
            <a:off x="640080" y="3739896"/>
            <a:ext cx="10881360" cy="0"/>
          </a:xfrm>
          <a:prstGeom prst="line">
            <a:avLst/>
          </a:prstGeom>
          <a:noFill/>
          <a:ln w="9525">
            <a:solidFill>
              <a:srgbClr val="E4E4E4"/>
            </a:solidFill>
            <a:prstDash val="solid"/>
          </a:ln>
        </p:spPr>
      </p:sp>
      <p:sp>
        <p:nvSpPr>
          <p:cNvPr id="20" name="Shape 18"/>
          <p:cNvSpPr/>
          <p:nvPr/>
        </p:nvSpPr>
        <p:spPr>
          <a:xfrm>
            <a:off x="640080" y="3739896"/>
            <a:ext cx="10881360" cy="576072"/>
          </a:xfrm>
          <a:prstGeom prst="rect">
            <a:avLst/>
          </a:prstGeom>
          <a:solidFill>
            <a:srgbClr val="F7F8F3"/>
          </a:solidFill>
          <a:ln/>
        </p:spPr>
      </p:sp>
      <p:sp>
        <p:nvSpPr>
          <p:cNvPr id="21" name="Text 19"/>
          <p:cNvSpPr/>
          <p:nvPr/>
        </p:nvSpPr>
        <p:spPr>
          <a:xfrm>
            <a:off x="822960" y="3739896"/>
            <a:ext cx="2971800" cy="576072"/>
          </a:xfrm>
          <a:prstGeom prst="rect">
            <a:avLst/>
          </a:prstGeom>
          <a:noFill/>
          <a:ln/>
        </p:spPr>
        <p:txBody>
          <a:bodyPr wrap="square" lIns="0" tIns="0" rIns="0" bIns="0" rtlCol="0" anchor="ctr"/>
          <a:lstStyle/>
          <a:p>
            <a:pPr marL="0" indent="0">
              <a:buNone/>
            </a:pPr>
            <a:r>
              <a:rPr lang="en-US" sz="1100" b="1" dirty="0">
                <a:solidFill>
                  <a:srgbClr val="1C1C1C"/>
                </a:solidFill>
                <a:latin typeface="Arial" pitchFamily="34" charset="0"/>
                <a:ea typeface="Arial" pitchFamily="34" charset="-122"/>
                <a:cs typeface="Arial" pitchFamily="34" charset="-120"/>
              </a:rPr>
              <a:t>Total Revenue</a:t>
            </a:r>
            <a:endParaRPr lang="en-US" sz="1100" dirty="0"/>
          </a:p>
        </p:txBody>
      </p:sp>
      <p:sp>
        <p:nvSpPr>
          <p:cNvPr id="22" name="Text 20"/>
          <p:cNvSpPr/>
          <p:nvPr/>
        </p:nvSpPr>
        <p:spPr>
          <a:xfrm>
            <a:off x="4069080" y="3739896"/>
            <a:ext cx="7269480" cy="576072"/>
          </a:xfrm>
          <a:prstGeom prst="rect">
            <a:avLst/>
          </a:prstGeom>
          <a:noFill/>
          <a:ln/>
        </p:spPr>
        <p:txBody>
          <a:bodyPr wrap="square" lIns="0" tIns="0" rIns="0" bIns="0" rtlCol="0" anchor="ctr"/>
          <a:lstStyle/>
          <a:p>
            <a:r>
              <a:rPr lang="en-IN" dirty="0"/>
              <a:t>Total Revenue = SUM(Data[</a:t>
            </a:r>
            <a:r>
              <a:rPr lang="en-IN" dirty="0" err="1"/>
              <a:t>total_trip_cost</a:t>
            </a:r>
            <a:r>
              <a:rPr lang="en-IN" dirty="0"/>
              <a:t>])</a:t>
            </a:r>
          </a:p>
        </p:txBody>
      </p:sp>
      <p:sp>
        <p:nvSpPr>
          <p:cNvPr id="23" name="Shape 21"/>
          <p:cNvSpPr/>
          <p:nvPr/>
        </p:nvSpPr>
        <p:spPr>
          <a:xfrm>
            <a:off x="640080" y="4315968"/>
            <a:ext cx="10881360" cy="0"/>
          </a:xfrm>
          <a:prstGeom prst="line">
            <a:avLst/>
          </a:prstGeom>
          <a:noFill/>
          <a:ln w="9525">
            <a:solidFill>
              <a:srgbClr val="E4E4E4"/>
            </a:solidFill>
            <a:prstDash val="solid"/>
          </a:ln>
        </p:spPr>
      </p:sp>
      <p:sp>
        <p:nvSpPr>
          <p:cNvPr id="24" name="Text 22"/>
          <p:cNvSpPr/>
          <p:nvPr/>
        </p:nvSpPr>
        <p:spPr>
          <a:xfrm>
            <a:off x="822960" y="4315968"/>
            <a:ext cx="2971800" cy="576072"/>
          </a:xfrm>
          <a:prstGeom prst="rect">
            <a:avLst/>
          </a:prstGeom>
          <a:noFill/>
          <a:ln/>
        </p:spPr>
        <p:txBody>
          <a:bodyPr wrap="square" lIns="0" tIns="0" rIns="0" bIns="0" rtlCol="0" anchor="ctr"/>
          <a:lstStyle/>
          <a:p>
            <a:pPr marL="0" indent="0">
              <a:buNone/>
            </a:pPr>
            <a:r>
              <a:rPr lang="en-US" sz="1100" b="1" dirty="0">
                <a:solidFill>
                  <a:srgbClr val="1C1C1C"/>
                </a:solidFill>
                <a:latin typeface="Arial" pitchFamily="34" charset="0"/>
                <a:ea typeface="Arial" pitchFamily="34" charset="-122"/>
                <a:cs typeface="Arial" pitchFamily="34" charset="-120"/>
              </a:rPr>
              <a:t>Peak Booking Hour</a:t>
            </a:r>
            <a:endParaRPr lang="en-US" sz="1100" dirty="0"/>
          </a:p>
        </p:txBody>
      </p:sp>
      <p:sp>
        <p:nvSpPr>
          <p:cNvPr id="25" name="Text 23"/>
          <p:cNvSpPr/>
          <p:nvPr/>
        </p:nvSpPr>
        <p:spPr>
          <a:xfrm>
            <a:off x="4069080" y="4315968"/>
            <a:ext cx="7269480" cy="576072"/>
          </a:xfrm>
          <a:prstGeom prst="rect">
            <a:avLst/>
          </a:prstGeom>
          <a:noFill/>
          <a:ln/>
        </p:spPr>
        <p:txBody>
          <a:bodyPr wrap="square" lIns="0" tIns="0" rIns="0" bIns="0" rtlCol="0" anchor="ctr"/>
          <a:lstStyle/>
          <a:p>
            <a:r>
              <a:rPr lang="en-IN" dirty="0"/>
              <a:t>Peak Booking Hour = MAX(Data[</a:t>
            </a:r>
            <a:r>
              <a:rPr lang="en-IN" dirty="0" err="1"/>
              <a:t>booking_time</a:t>
            </a:r>
            <a:r>
              <a:rPr lang="en-IN" dirty="0"/>
              <a:t>.])</a:t>
            </a:r>
          </a:p>
        </p:txBody>
      </p:sp>
      <p:sp>
        <p:nvSpPr>
          <p:cNvPr id="26" name="Shape 24"/>
          <p:cNvSpPr/>
          <p:nvPr/>
        </p:nvSpPr>
        <p:spPr>
          <a:xfrm>
            <a:off x="640080" y="4892040"/>
            <a:ext cx="10881360" cy="0"/>
          </a:xfrm>
          <a:prstGeom prst="line">
            <a:avLst/>
          </a:prstGeom>
          <a:noFill/>
          <a:ln w="9525">
            <a:solidFill>
              <a:srgbClr val="E4E4E4"/>
            </a:solidFill>
            <a:prstDash val="solid"/>
          </a:ln>
        </p:spPr>
      </p:sp>
      <p:sp>
        <p:nvSpPr>
          <p:cNvPr id="27" name="Shape 25"/>
          <p:cNvSpPr/>
          <p:nvPr/>
        </p:nvSpPr>
        <p:spPr>
          <a:xfrm>
            <a:off x="633679" y="4800600"/>
            <a:ext cx="10881360" cy="576072"/>
          </a:xfrm>
          <a:prstGeom prst="rect">
            <a:avLst/>
          </a:prstGeom>
          <a:solidFill>
            <a:srgbClr val="F7F8F3"/>
          </a:solidFill>
          <a:ln/>
        </p:spPr>
        <p:txBody>
          <a:bodyPr/>
          <a:lstStyle/>
          <a:p>
            <a:endParaRPr lang="en-IN" dirty="0"/>
          </a:p>
        </p:txBody>
      </p:sp>
      <p:sp>
        <p:nvSpPr>
          <p:cNvPr id="28" name="Text 26"/>
          <p:cNvSpPr/>
          <p:nvPr/>
        </p:nvSpPr>
        <p:spPr>
          <a:xfrm>
            <a:off x="822960" y="4892040"/>
            <a:ext cx="2971800" cy="576072"/>
          </a:xfrm>
          <a:prstGeom prst="rect">
            <a:avLst/>
          </a:prstGeom>
          <a:noFill/>
          <a:ln/>
        </p:spPr>
        <p:txBody>
          <a:bodyPr wrap="square" lIns="0" tIns="0" rIns="0" bIns="0" rtlCol="0" anchor="ctr"/>
          <a:lstStyle/>
          <a:p>
            <a:pPr marL="0" indent="0">
              <a:buNone/>
            </a:pPr>
            <a:r>
              <a:rPr lang="en-US" sz="1100" b="1" dirty="0">
                <a:solidFill>
                  <a:srgbClr val="1C1C1C"/>
                </a:solidFill>
                <a:latin typeface="Arial" pitchFamily="34" charset="0"/>
                <a:ea typeface="Arial" pitchFamily="34" charset="-122"/>
                <a:cs typeface="Arial" pitchFamily="34" charset="-120"/>
              </a:rPr>
              <a:t>Most Popular Day</a:t>
            </a:r>
            <a:endParaRPr lang="en-US" sz="1100" dirty="0"/>
          </a:p>
        </p:txBody>
      </p:sp>
      <p:sp>
        <p:nvSpPr>
          <p:cNvPr id="29" name="Text 27"/>
          <p:cNvSpPr/>
          <p:nvPr/>
        </p:nvSpPr>
        <p:spPr>
          <a:xfrm>
            <a:off x="4069080" y="4892040"/>
            <a:ext cx="7269480" cy="576072"/>
          </a:xfrm>
          <a:prstGeom prst="rect">
            <a:avLst/>
          </a:prstGeom>
          <a:noFill/>
          <a:ln/>
        </p:spPr>
        <p:txBody>
          <a:bodyPr wrap="square" lIns="0" tIns="0" rIns="0" bIns="0" rtlCol="0" anchor="ctr"/>
          <a:lstStyle/>
          <a:p>
            <a:r>
              <a:rPr lang="en-IN" dirty="0"/>
              <a:t>Most Popular Day = MAX(Data[</a:t>
            </a:r>
            <a:r>
              <a:rPr lang="en-IN" dirty="0" err="1"/>
              <a:t>day_of_week</a:t>
            </a:r>
            <a:r>
              <a:rPr lang="en-IN" dirty="0"/>
              <a:t>])</a:t>
            </a:r>
          </a:p>
        </p:txBody>
      </p:sp>
      <p:sp>
        <p:nvSpPr>
          <p:cNvPr id="30" name="Shape 28"/>
          <p:cNvSpPr/>
          <p:nvPr/>
        </p:nvSpPr>
        <p:spPr>
          <a:xfrm>
            <a:off x="640080" y="5468112"/>
            <a:ext cx="10881360" cy="0"/>
          </a:xfrm>
          <a:prstGeom prst="line">
            <a:avLst/>
          </a:prstGeom>
          <a:noFill/>
          <a:ln w="9525">
            <a:solidFill>
              <a:srgbClr val="E4E4E4"/>
            </a:solidFill>
            <a:prstDash val="solid"/>
          </a:ln>
        </p:spPr>
      </p:sp>
      <p:sp>
        <p:nvSpPr>
          <p:cNvPr id="31" name="Text 29"/>
          <p:cNvSpPr/>
          <p:nvPr/>
        </p:nvSpPr>
        <p:spPr>
          <a:xfrm>
            <a:off x="822960" y="5468112"/>
            <a:ext cx="2971800" cy="576072"/>
          </a:xfrm>
          <a:prstGeom prst="rect">
            <a:avLst/>
          </a:prstGeom>
          <a:noFill/>
          <a:ln/>
        </p:spPr>
        <p:txBody>
          <a:bodyPr wrap="square" lIns="0" tIns="0" rIns="0" bIns="0" rtlCol="0" anchor="ctr"/>
          <a:lstStyle/>
          <a:p>
            <a:pPr marL="0" indent="0">
              <a:buNone/>
            </a:pPr>
            <a:r>
              <a:rPr lang="en-US" sz="1100" b="1" dirty="0" err="1">
                <a:solidFill>
                  <a:srgbClr val="1C1C1C"/>
                </a:solidFill>
                <a:latin typeface="Arial" pitchFamily="34" charset="0"/>
                <a:ea typeface="Arial" pitchFamily="34" charset="-122"/>
                <a:cs typeface="Arial" pitchFamily="34" charset="-120"/>
              </a:rPr>
              <a:t>Premimum</a:t>
            </a:r>
            <a:r>
              <a:rPr lang="en-US" sz="1100" b="1" dirty="0">
                <a:solidFill>
                  <a:srgbClr val="1C1C1C"/>
                </a:solidFill>
                <a:latin typeface="Arial" pitchFamily="34" charset="0"/>
                <a:ea typeface="Arial" pitchFamily="34" charset="-122"/>
                <a:cs typeface="Arial" pitchFamily="34" charset="-120"/>
              </a:rPr>
              <a:t> Customer Share%</a:t>
            </a:r>
            <a:endParaRPr lang="en-US" sz="1100" dirty="0"/>
          </a:p>
        </p:txBody>
      </p:sp>
      <p:sp>
        <p:nvSpPr>
          <p:cNvPr id="32" name="Text 30"/>
          <p:cNvSpPr/>
          <p:nvPr/>
        </p:nvSpPr>
        <p:spPr>
          <a:xfrm>
            <a:off x="3759576" y="5610858"/>
            <a:ext cx="7269480" cy="1247142"/>
          </a:xfrm>
          <a:prstGeom prst="rect">
            <a:avLst/>
          </a:prstGeom>
          <a:noFill/>
          <a:ln/>
        </p:spPr>
        <p:txBody>
          <a:bodyPr wrap="square" lIns="0" tIns="0" rIns="0" bIns="0" rtlCol="0" anchor="ctr"/>
          <a:lstStyle/>
          <a:p>
            <a:r>
              <a:rPr lang="en-IN" dirty="0" err="1"/>
              <a:t>Premimum</a:t>
            </a:r>
            <a:r>
              <a:rPr lang="en-IN" dirty="0"/>
              <a:t> Customer Share% = DIVIDE( CALCULATE(</a:t>
            </a:r>
          </a:p>
          <a:p>
            <a:r>
              <a:rPr lang="en-IN" dirty="0"/>
              <a:t>                                    </a:t>
            </a:r>
            <a:r>
              <a:rPr lang="en-IN" dirty="0" err="1"/>
              <a:t>countrows</a:t>
            </a:r>
            <a:r>
              <a:rPr lang="en-IN" dirty="0"/>
              <a:t>('Data'),</a:t>
            </a:r>
          </a:p>
          <a:p>
            <a:r>
              <a:rPr lang="en-IN" dirty="0"/>
              <a:t>                                    'Data'[Customer Type] = "Premium Customer"</a:t>
            </a:r>
          </a:p>
          <a:p>
            <a:r>
              <a:rPr lang="en-IN" dirty="0"/>
              <a:t>                                ),</a:t>
            </a:r>
          </a:p>
          <a:p>
            <a:r>
              <a:rPr lang="en-IN" dirty="0"/>
              <a:t>                                [Total Booking])</a:t>
            </a:r>
          </a:p>
        </p:txBody>
      </p:sp>
      <p:sp>
        <p:nvSpPr>
          <p:cNvPr id="33" name="Shape 31"/>
          <p:cNvSpPr/>
          <p:nvPr/>
        </p:nvSpPr>
        <p:spPr>
          <a:xfrm>
            <a:off x="640080" y="6044184"/>
            <a:ext cx="10881360" cy="0"/>
          </a:xfrm>
          <a:prstGeom prst="line">
            <a:avLst/>
          </a:prstGeom>
          <a:noFill/>
          <a:ln w="9525">
            <a:solidFill>
              <a:srgbClr val="E4E4E4"/>
            </a:solidFill>
            <a:prstDash val="solid"/>
          </a:ln>
        </p:spPr>
      </p:sp>
      <p:sp>
        <p:nvSpPr>
          <p:cNvPr id="34" name="Text 32"/>
          <p:cNvSpPr/>
          <p:nvPr/>
        </p:nvSpPr>
        <p:spPr>
          <a:xfrm>
            <a:off x="640080" y="6181344"/>
            <a:ext cx="10881360" cy="320040"/>
          </a:xfrm>
          <a:prstGeom prst="rect">
            <a:avLst/>
          </a:prstGeom>
          <a:noFill/>
          <a:ln/>
        </p:spPr>
        <p:txBody>
          <a:bodyPr wrap="square" lIns="0" tIns="0" rIns="0" bIns="0" rtlCol="0" anchor="ctr"/>
          <a:lstStyle/>
          <a:p>
            <a:pPr marL="0" indent="0">
              <a:buNone/>
            </a:pPr>
            <a:endParaRPr lang="en-US" sz="950" dirty="0"/>
          </a:p>
        </p:txBody>
      </p:sp>
      <p:sp>
        <p:nvSpPr>
          <p:cNvPr id="35" name="Text 33"/>
          <p:cNvSpPr/>
          <p:nvPr/>
        </p:nvSpPr>
        <p:spPr>
          <a:xfrm>
            <a:off x="457200" y="6473951"/>
            <a:ext cx="4152900" cy="320021"/>
          </a:xfrm>
          <a:prstGeom prst="rect">
            <a:avLst/>
          </a:prstGeom>
          <a:noFill/>
          <a:ln/>
        </p:spPr>
        <p:txBody>
          <a:bodyPr wrap="square" lIns="0" tIns="0" rIns="0" bIns="0" rtlCol="0" anchor="ctr"/>
          <a:lstStyle/>
          <a:p>
            <a:r>
              <a:rPr lang="en-US" sz="900" kern="0" spc="200" dirty="0">
                <a:latin typeface="Arial" pitchFamily="34" charset="0"/>
                <a:ea typeface="Arial" pitchFamily="34" charset="-122"/>
                <a:cs typeface="Arial" pitchFamily="34" charset="-120"/>
              </a:rPr>
              <a:t>OLA . POWER BI PROJECT</a:t>
            </a:r>
            <a:endParaRPr lang="en-US" sz="900" dirty="0"/>
          </a:p>
        </p:txBody>
      </p:sp>
      <p:sp>
        <p:nvSpPr>
          <p:cNvPr id="36" name="Text 34"/>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9A9A9A"/>
                </a:solidFill>
                <a:latin typeface="Arial" pitchFamily="34" charset="0"/>
                <a:ea typeface="Arial" pitchFamily="34" charset="-122"/>
                <a:cs typeface="Arial" pitchFamily="34" charset="-120"/>
              </a:rPr>
              <a:t>05</a:t>
            </a:r>
            <a:endParaRPr lang="en-US" sz="900" dirty="0"/>
          </a:p>
        </p:txBody>
      </p:sp>
      <p:pic>
        <p:nvPicPr>
          <p:cNvPr id="41" name="Picture 40">
            <a:extLst>
              <a:ext uri="{FF2B5EF4-FFF2-40B4-BE49-F238E27FC236}">
                <a16:creationId xmlns:a16="http://schemas.microsoft.com/office/drawing/2014/main" id="{9ADB8DF4-462D-BB51-9DFB-F9853B38DE6E}"/>
              </a:ext>
            </a:extLst>
          </p:cNvPr>
          <p:cNvPicPr>
            <a:picLocks noChangeAspect="1"/>
          </p:cNvPicPr>
          <p:nvPr/>
        </p:nvPicPr>
        <p:blipFill>
          <a:blip r:embed="rId3"/>
          <a:stretch>
            <a:fillRect/>
          </a:stretch>
        </p:blipFill>
        <p:spPr>
          <a:xfrm>
            <a:off x="9762786" y="0"/>
            <a:ext cx="2429214" cy="7811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rot="-1080000">
            <a:off x="-2011680" y="1828800"/>
            <a:ext cx="15544800" cy="3657600"/>
          </a:xfrm>
          <a:prstGeom prst="rect">
            <a:avLst/>
          </a:prstGeom>
          <a:noFill/>
          <a:ln/>
        </p:spPr>
        <p:txBody>
          <a:bodyPr wrap="square" lIns="0" tIns="0" rIns="0" bIns="0" rtlCol="0" anchor="ctr"/>
          <a:lstStyle/>
          <a:p>
            <a:pPr marL="0" indent="0" algn="ctr">
              <a:buNone/>
            </a:pPr>
            <a:r>
              <a:rPr lang="en-US" sz="26000" b="1" dirty="0">
                <a:solidFill>
                  <a:srgbClr val="232323"/>
                </a:solidFill>
                <a:latin typeface="Arial Black" pitchFamily="34" charset="0"/>
                <a:ea typeface="Arial Black" pitchFamily="34" charset="-122"/>
                <a:cs typeface="Arial Black" pitchFamily="34" charset="-120"/>
              </a:rPr>
              <a:t>OLA</a:t>
            </a:r>
            <a:endParaRPr lang="en-US" sz="26000" dirty="0"/>
          </a:p>
        </p:txBody>
      </p:sp>
      <p:sp>
        <p:nvSpPr>
          <p:cNvPr id="3" name="Shape 1"/>
          <p:cNvSpPr/>
          <p:nvPr/>
        </p:nvSpPr>
        <p:spPr>
          <a:xfrm>
            <a:off x="0" y="82296"/>
            <a:ext cx="566928" cy="566928"/>
          </a:xfrm>
          <a:prstGeom prst="roundRect">
            <a:avLst>
              <a:gd name="adj" fmla="val 19355"/>
            </a:avLst>
          </a:prstGeom>
          <a:solidFill>
            <a:srgbClr val="2A2A2A"/>
          </a:solidFill>
          <a:ln/>
        </p:spPr>
      </p:sp>
      <p:sp>
        <p:nvSpPr>
          <p:cNvPr id="4" name="Text 2"/>
          <p:cNvSpPr/>
          <p:nvPr/>
        </p:nvSpPr>
        <p:spPr>
          <a:xfrm>
            <a:off x="0" y="82296"/>
            <a:ext cx="566928" cy="566928"/>
          </a:xfrm>
          <a:prstGeom prst="rect">
            <a:avLst/>
          </a:prstGeom>
          <a:noFill/>
          <a:ln/>
        </p:spPr>
        <p:txBody>
          <a:bodyPr wrap="square" lIns="0" tIns="0" rIns="0" bIns="0" rtlCol="0" anchor="ctr"/>
          <a:lstStyle/>
          <a:p>
            <a:pPr marL="0" indent="0" algn="ctr">
              <a:buNone/>
            </a:pPr>
            <a:r>
              <a:rPr lang="en-US" sz="1000" b="1" dirty="0">
                <a:solidFill>
                  <a:srgbClr val="C9F031"/>
                </a:solidFill>
                <a:latin typeface="Arial Black" pitchFamily="34" charset="0"/>
                <a:ea typeface="Arial Black" pitchFamily="34" charset="-122"/>
                <a:cs typeface="Arial Black" pitchFamily="34" charset="-120"/>
              </a:rPr>
              <a:t>OLA</a:t>
            </a:r>
            <a:endParaRPr lang="en-US" sz="1000" dirty="0"/>
          </a:p>
        </p:txBody>
      </p:sp>
      <p:sp>
        <p:nvSpPr>
          <p:cNvPr id="5" name="Text 3"/>
          <p:cNvSpPr/>
          <p:nvPr/>
        </p:nvSpPr>
        <p:spPr>
          <a:xfrm>
            <a:off x="822960" y="502920"/>
            <a:ext cx="7315200" cy="50292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Conclusion</a:t>
            </a:r>
            <a:endParaRPr lang="en-US" sz="2800" dirty="0"/>
          </a:p>
        </p:txBody>
      </p:sp>
      <p:sp>
        <p:nvSpPr>
          <p:cNvPr id="6" name="Text 4"/>
          <p:cNvSpPr/>
          <p:nvPr/>
        </p:nvSpPr>
        <p:spPr>
          <a:xfrm>
            <a:off x="822960" y="1005840"/>
            <a:ext cx="9144000" cy="365760"/>
          </a:xfrm>
          <a:prstGeom prst="rect">
            <a:avLst/>
          </a:prstGeom>
          <a:noFill/>
          <a:ln/>
        </p:spPr>
        <p:txBody>
          <a:bodyPr wrap="square" lIns="0" tIns="0" rIns="0" bIns="0" rtlCol="0" anchor="ctr"/>
          <a:lstStyle/>
          <a:p>
            <a:pPr marL="0" indent="0">
              <a:buNone/>
            </a:pPr>
            <a:r>
              <a:rPr lang="en-US" sz="1300" dirty="0">
                <a:solidFill>
                  <a:srgbClr val="C9F031"/>
                </a:solidFill>
                <a:latin typeface="Arial" pitchFamily="34" charset="0"/>
                <a:ea typeface="Arial" pitchFamily="34" charset="-122"/>
                <a:cs typeface="Arial" pitchFamily="34" charset="-120"/>
              </a:rPr>
              <a:t>The path to profitability the dashboard points to</a:t>
            </a:r>
            <a:endParaRPr lang="en-US" sz="1300" dirty="0"/>
          </a:p>
        </p:txBody>
      </p:sp>
      <p:sp>
        <p:nvSpPr>
          <p:cNvPr id="7" name="Shape 5"/>
          <p:cNvSpPr/>
          <p:nvPr/>
        </p:nvSpPr>
        <p:spPr>
          <a:xfrm>
            <a:off x="822960" y="1691640"/>
            <a:ext cx="5074920" cy="2194560"/>
          </a:xfrm>
          <a:prstGeom prst="roundRect">
            <a:avLst>
              <a:gd name="adj" fmla="val 2917"/>
            </a:avLst>
          </a:prstGeom>
          <a:solidFill>
            <a:srgbClr val="1F1F1F"/>
          </a:solidFill>
          <a:ln/>
        </p:spPr>
      </p:sp>
      <p:sp>
        <p:nvSpPr>
          <p:cNvPr id="8" name="Text 6"/>
          <p:cNvSpPr/>
          <p:nvPr/>
        </p:nvSpPr>
        <p:spPr>
          <a:xfrm>
            <a:off x="1051560" y="1874520"/>
            <a:ext cx="914400" cy="365760"/>
          </a:xfrm>
          <a:prstGeom prst="rect">
            <a:avLst/>
          </a:prstGeom>
          <a:noFill/>
          <a:ln/>
        </p:spPr>
        <p:txBody>
          <a:bodyPr wrap="square" lIns="0" tIns="0" rIns="0" bIns="0" rtlCol="0" anchor="ctr"/>
          <a:lstStyle/>
          <a:p>
            <a:pPr marL="0" indent="0">
              <a:buNone/>
            </a:pPr>
            <a:r>
              <a:rPr lang="en-US" sz="1600" b="1" dirty="0">
                <a:solidFill>
                  <a:srgbClr val="C9F031"/>
                </a:solidFill>
                <a:latin typeface="Georgia" pitchFamily="34" charset="0"/>
                <a:ea typeface="Georgia" pitchFamily="34" charset="-122"/>
                <a:cs typeface="Georgia" pitchFamily="34" charset="-120"/>
              </a:rPr>
              <a:t>01</a:t>
            </a:r>
            <a:endParaRPr lang="en-US" sz="1600" dirty="0"/>
          </a:p>
        </p:txBody>
      </p:sp>
      <p:sp>
        <p:nvSpPr>
          <p:cNvPr id="9" name="Text 7"/>
          <p:cNvSpPr/>
          <p:nvPr/>
        </p:nvSpPr>
        <p:spPr>
          <a:xfrm>
            <a:off x="1051560" y="2240280"/>
            <a:ext cx="4617720" cy="5029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Move from flat discounting to demand-based pricing</a:t>
            </a:r>
            <a:endParaRPr lang="en-US" sz="1250" dirty="0"/>
          </a:p>
        </p:txBody>
      </p:sp>
      <p:sp>
        <p:nvSpPr>
          <p:cNvPr id="10" name="Text 8"/>
          <p:cNvSpPr/>
          <p:nvPr/>
        </p:nvSpPr>
        <p:spPr>
          <a:xfrm>
            <a:off x="1051560" y="2743200"/>
            <a:ext cx="4617720" cy="1005840"/>
          </a:xfrm>
          <a:prstGeom prst="rect">
            <a:avLst/>
          </a:prstGeom>
          <a:noFill/>
          <a:ln/>
        </p:spPr>
        <p:txBody>
          <a:bodyPr wrap="square" lIns="0" tIns="0" rIns="0" bIns="0" rtlCol="0" anchor="t"/>
          <a:lstStyle/>
          <a:p>
            <a:pPr marL="0" indent="0">
              <a:lnSpc>
                <a:spcPts val="1300"/>
              </a:lnSpc>
              <a:buNone/>
            </a:pPr>
            <a:r>
              <a:rPr lang="en-US" sz="970" dirty="0">
                <a:solidFill>
                  <a:srgbClr val="C6C6C6"/>
                </a:solidFill>
                <a:latin typeface="Arial" pitchFamily="34" charset="0"/>
                <a:ea typeface="Arial" pitchFamily="34" charset="-122"/>
                <a:cs typeface="Arial" pitchFamily="34" charset="-120"/>
              </a:rPr>
              <a:t>The dashboard's Peak Booking Hour and Most Popular Day measures show exactly when demand spikes. Pricing and driver incentives can be concentrated in those windows instead of being spread evenly — cutting wasted incentive spend on low-demand periods.</a:t>
            </a:r>
            <a:endParaRPr lang="en-US" sz="970" dirty="0"/>
          </a:p>
        </p:txBody>
      </p:sp>
      <p:sp>
        <p:nvSpPr>
          <p:cNvPr id="11" name="Shape 9"/>
          <p:cNvSpPr/>
          <p:nvPr/>
        </p:nvSpPr>
        <p:spPr>
          <a:xfrm>
            <a:off x="6355080" y="1691640"/>
            <a:ext cx="5074920" cy="2194560"/>
          </a:xfrm>
          <a:prstGeom prst="roundRect">
            <a:avLst>
              <a:gd name="adj" fmla="val 2917"/>
            </a:avLst>
          </a:prstGeom>
          <a:solidFill>
            <a:srgbClr val="1F1F1F"/>
          </a:solidFill>
          <a:ln/>
        </p:spPr>
      </p:sp>
      <p:sp>
        <p:nvSpPr>
          <p:cNvPr id="12" name="Text 10"/>
          <p:cNvSpPr/>
          <p:nvPr/>
        </p:nvSpPr>
        <p:spPr>
          <a:xfrm>
            <a:off x="6583680" y="1874520"/>
            <a:ext cx="914400" cy="365760"/>
          </a:xfrm>
          <a:prstGeom prst="rect">
            <a:avLst/>
          </a:prstGeom>
          <a:noFill/>
          <a:ln/>
        </p:spPr>
        <p:txBody>
          <a:bodyPr wrap="square" lIns="0" tIns="0" rIns="0" bIns="0" rtlCol="0" anchor="ctr"/>
          <a:lstStyle/>
          <a:p>
            <a:pPr marL="0" indent="0">
              <a:buNone/>
            </a:pPr>
            <a:r>
              <a:rPr lang="en-US" sz="1600" b="1" dirty="0">
                <a:solidFill>
                  <a:srgbClr val="C9F031"/>
                </a:solidFill>
                <a:latin typeface="Georgia" pitchFamily="34" charset="0"/>
                <a:ea typeface="Georgia" pitchFamily="34" charset="-122"/>
                <a:cs typeface="Georgia" pitchFamily="34" charset="-120"/>
              </a:rPr>
              <a:t>02</a:t>
            </a:r>
            <a:endParaRPr lang="en-US" sz="1600" dirty="0"/>
          </a:p>
        </p:txBody>
      </p:sp>
      <p:sp>
        <p:nvSpPr>
          <p:cNvPr id="13" name="Text 11"/>
          <p:cNvSpPr/>
          <p:nvPr/>
        </p:nvSpPr>
        <p:spPr>
          <a:xfrm>
            <a:off x="6583680" y="2240280"/>
            <a:ext cx="4617720" cy="5029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Prioritise the Premium customer segment</a:t>
            </a:r>
            <a:endParaRPr lang="en-US" sz="1250" dirty="0"/>
          </a:p>
        </p:txBody>
      </p:sp>
      <p:sp>
        <p:nvSpPr>
          <p:cNvPr id="14" name="Text 12"/>
          <p:cNvSpPr/>
          <p:nvPr/>
        </p:nvSpPr>
        <p:spPr>
          <a:xfrm>
            <a:off x="6583680" y="2743200"/>
            <a:ext cx="4617720" cy="1005840"/>
          </a:xfrm>
          <a:prstGeom prst="rect">
            <a:avLst/>
          </a:prstGeom>
          <a:noFill/>
          <a:ln/>
        </p:spPr>
        <p:txBody>
          <a:bodyPr wrap="square" lIns="0" tIns="0" rIns="0" bIns="0" rtlCol="0" anchor="t"/>
          <a:lstStyle/>
          <a:p>
            <a:pPr marL="0" indent="0">
              <a:lnSpc>
                <a:spcPts val="1300"/>
              </a:lnSpc>
              <a:buNone/>
            </a:pPr>
            <a:r>
              <a:rPr lang="en-US" sz="970" dirty="0">
                <a:solidFill>
                  <a:srgbClr val="C6C6C6"/>
                </a:solidFill>
                <a:latin typeface="Arial" pitchFamily="34" charset="0"/>
                <a:ea typeface="Arial" pitchFamily="34" charset="-122"/>
                <a:cs typeface="Arial" pitchFamily="34" charset="-120"/>
              </a:rPr>
              <a:t>Premium Customer Share% and Revenue over Customer Type show that premium riders generate disproportionate revenue per trip. Retaining and growing this segment (better service, loyalty perks) raises average revenue per booking without needing blanket discounts.</a:t>
            </a:r>
            <a:endParaRPr lang="en-US" sz="970" dirty="0"/>
          </a:p>
        </p:txBody>
      </p:sp>
      <p:sp>
        <p:nvSpPr>
          <p:cNvPr id="15" name="Shape 13"/>
          <p:cNvSpPr/>
          <p:nvPr/>
        </p:nvSpPr>
        <p:spPr>
          <a:xfrm>
            <a:off x="822960" y="4114800"/>
            <a:ext cx="5074920" cy="2194560"/>
          </a:xfrm>
          <a:prstGeom prst="roundRect">
            <a:avLst>
              <a:gd name="adj" fmla="val 2917"/>
            </a:avLst>
          </a:prstGeom>
          <a:solidFill>
            <a:srgbClr val="1F1F1F"/>
          </a:solidFill>
          <a:ln/>
        </p:spPr>
      </p:sp>
      <p:sp>
        <p:nvSpPr>
          <p:cNvPr id="16" name="Text 14"/>
          <p:cNvSpPr/>
          <p:nvPr/>
        </p:nvSpPr>
        <p:spPr>
          <a:xfrm>
            <a:off x="1051560" y="4297680"/>
            <a:ext cx="914400" cy="365760"/>
          </a:xfrm>
          <a:prstGeom prst="rect">
            <a:avLst/>
          </a:prstGeom>
          <a:noFill/>
          <a:ln/>
        </p:spPr>
        <p:txBody>
          <a:bodyPr wrap="square" lIns="0" tIns="0" rIns="0" bIns="0" rtlCol="0" anchor="ctr"/>
          <a:lstStyle/>
          <a:p>
            <a:pPr marL="0" indent="0">
              <a:buNone/>
            </a:pPr>
            <a:r>
              <a:rPr lang="en-US" sz="1600" b="1" dirty="0">
                <a:solidFill>
                  <a:srgbClr val="C9F031"/>
                </a:solidFill>
                <a:latin typeface="Georgia" pitchFamily="34" charset="0"/>
                <a:ea typeface="Georgia" pitchFamily="34" charset="-122"/>
                <a:cs typeface="Georgia" pitchFamily="34" charset="-120"/>
              </a:rPr>
              <a:t>03</a:t>
            </a:r>
            <a:endParaRPr lang="en-US" sz="1600" dirty="0"/>
          </a:p>
        </p:txBody>
      </p:sp>
      <p:sp>
        <p:nvSpPr>
          <p:cNvPr id="17" name="Text 15"/>
          <p:cNvSpPr/>
          <p:nvPr/>
        </p:nvSpPr>
        <p:spPr>
          <a:xfrm>
            <a:off x="1051560" y="4663440"/>
            <a:ext cx="4617720" cy="5029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Rebalance the vehicle-type and gender/purpose mix</a:t>
            </a:r>
            <a:endParaRPr lang="en-US" sz="1250" dirty="0"/>
          </a:p>
        </p:txBody>
      </p:sp>
      <p:sp>
        <p:nvSpPr>
          <p:cNvPr id="18" name="Text 16"/>
          <p:cNvSpPr/>
          <p:nvPr/>
        </p:nvSpPr>
        <p:spPr>
          <a:xfrm>
            <a:off x="1051560" y="5166360"/>
            <a:ext cx="4617720" cy="1005840"/>
          </a:xfrm>
          <a:prstGeom prst="rect">
            <a:avLst/>
          </a:prstGeom>
          <a:noFill/>
          <a:ln/>
        </p:spPr>
        <p:txBody>
          <a:bodyPr wrap="square" lIns="0" tIns="0" rIns="0" bIns="0" rtlCol="0" anchor="t"/>
          <a:lstStyle/>
          <a:p>
            <a:pPr marL="0" indent="0">
              <a:lnSpc>
                <a:spcPts val="1300"/>
              </a:lnSpc>
              <a:buNone/>
            </a:pPr>
            <a:r>
              <a:rPr lang="en-US" sz="970" dirty="0">
                <a:solidFill>
                  <a:srgbClr val="C6C6C6"/>
                </a:solidFill>
                <a:latin typeface="Arial" pitchFamily="34" charset="0"/>
                <a:ea typeface="Arial" pitchFamily="34" charset="-122"/>
                <a:cs typeface="Arial" pitchFamily="34" charset="-120"/>
              </a:rPr>
              <a:t>Booking over Vehicle Type and Booking over Gender (by purpose) reveal which vehicle categories and rider segments drive volume versus revenue — letting OLA push supply and offers toward the mix that is actually profitable, not just popular.</a:t>
            </a:r>
            <a:endParaRPr lang="en-US" sz="970" dirty="0"/>
          </a:p>
        </p:txBody>
      </p:sp>
      <p:sp>
        <p:nvSpPr>
          <p:cNvPr id="19" name="Shape 17"/>
          <p:cNvSpPr/>
          <p:nvPr/>
        </p:nvSpPr>
        <p:spPr>
          <a:xfrm>
            <a:off x="6355080" y="4114800"/>
            <a:ext cx="5074920" cy="2194560"/>
          </a:xfrm>
          <a:prstGeom prst="roundRect">
            <a:avLst>
              <a:gd name="adj" fmla="val 2917"/>
            </a:avLst>
          </a:prstGeom>
          <a:solidFill>
            <a:srgbClr val="1F1F1F"/>
          </a:solidFill>
          <a:ln/>
        </p:spPr>
      </p:sp>
      <p:sp>
        <p:nvSpPr>
          <p:cNvPr id="20" name="Text 18"/>
          <p:cNvSpPr/>
          <p:nvPr/>
        </p:nvSpPr>
        <p:spPr>
          <a:xfrm>
            <a:off x="6583680" y="4297680"/>
            <a:ext cx="914400" cy="365760"/>
          </a:xfrm>
          <a:prstGeom prst="rect">
            <a:avLst/>
          </a:prstGeom>
          <a:noFill/>
          <a:ln/>
        </p:spPr>
        <p:txBody>
          <a:bodyPr wrap="square" lIns="0" tIns="0" rIns="0" bIns="0" rtlCol="0" anchor="ctr"/>
          <a:lstStyle/>
          <a:p>
            <a:pPr marL="0" indent="0">
              <a:buNone/>
            </a:pPr>
            <a:r>
              <a:rPr lang="en-US" sz="1600" b="1" dirty="0">
                <a:solidFill>
                  <a:srgbClr val="C9F031"/>
                </a:solidFill>
                <a:latin typeface="Georgia" pitchFamily="34" charset="0"/>
                <a:ea typeface="Georgia" pitchFamily="34" charset="-122"/>
                <a:cs typeface="Georgia" pitchFamily="34" charset="-120"/>
              </a:rPr>
              <a:t>04</a:t>
            </a:r>
            <a:endParaRPr lang="en-US" sz="1600" dirty="0"/>
          </a:p>
        </p:txBody>
      </p:sp>
      <p:sp>
        <p:nvSpPr>
          <p:cNvPr id="21" name="Text 19"/>
          <p:cNvSpPr/>
          <p:nvPr/>
        </p:nvSpPr>
        <p:spPr>
          <a:xfrm>
            <a:off x="6583680" y="4663440"/>
            <a:ext cx="4617720" cy="5029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Result: data-led decisions instead of blanket subsidies</a:t>
            </a:r>
            <a:endParaRPr lang="en-US" sz="1250" dirty="0"/>
          </a:p>
        </p:txBody>
      </p:sp>
      <p:sp>
        <p:nvSpPr>
          <p:cNvPr id="22" name="Text 20"/>
          <p:cNvSpPr/>
          <p:nvPr/>
        </p:nvSpPr>
        <p:spPr>
          <a:xfrm>
            <a:off x="6583680" y="5166360"/>
            <a:ext cx="4617720" cy="1005840"/>
          </a:xfrm>
          <a:prstGeom prst="rect">
            <a:avLst/>
          </a:prstGeom>
          <a:noFill/>
          <a:ln/>
        </p:spPr>
        <p:txBody>
          <a:bodyPr wrap="square" lIns="0" tIns="0" rIns="0" bIns="0" rtlCol="0" anchor="t"/>
          <a:lstStyle/>
          <a:p>
            <a:pPr marL="0" indent="0">
              <a:lnSpc>
                <a:spcPts val="1300"/>
              </a:lnSpc>
              <a:buNone/>
            </a:pPr>
            <a:r>
              <a:rPr lang="en-US" sz="970" dirty="0">
                <a:solidFill>
                  <a:srgbClr val="C6C6C6"/>
                </a:solidFill>
                <a:latin typeface="Arial" pitchFamily="34" charset="0"/>
                <a:ea typeface="Arial" pitchFamily="34" charset="-122"/>
                <a:cs typeface="Arial" pitchFamily="34" charset="-120"/>
              </a:rPr>
              <a:t>Used together, these measures let OLA replace broad, margin-eroding discounts with targeted, time- and segment-specific decisions — the core lever this project identifies for moving OLA toward sustainable profitability.</a:t>
            </a:r>
            <a:endParaRPr lang="en-US" sz="970" dirty="0"/>
          </a:p>
        </p:txBody>
      </p:sp>
      <p:sp>
        <p:nvSpPr>
          <p:cNvPr id="23" name="Text 21"/>
          <p:cNvSpPr/>
          <p:nvPr/>
        </p:nvSpPr>
        <p:spPr>
          <a:xfrm>
            <a:off x="457200" y="6473952"/>
            <a:ext cx="7315200" cy="274320"/>
          </a:xfrm>
          <a:prstGeom prst="rect">
            <a:avLst/>
          </a:prstGeom>
          <a:noFill/>
          <a:ln/>
        </p:spPr>
        <p:txBody>
          <a:bodyPr wrap="square" lIns="0" tIns="0" rIns="0" bIns="0" rtlCol="0" anchor="ctr"/>
          <a:lstStyle/>
          <a:p>
            <a:pPr marL="0" indent="0">
              <a:buNone/>
            </a:pPr>
            <a:r>
              <a:rPr lang="en-US" sz="900" kern="0" spc="200" dirty="0">
                <a:solidFill>
                  <a:schemeClr val="bg1"/>
                </a:solidFill>
                <a:latin typeface="Arial" pitchFamily="34" charset="0"/>
                <a:ea typeface="Arial" pitchFamily="34" charset="-122"/>
                <a:cs typeface="Arial" pitchFamily="34" charset="-120"/>
              </a:rPr>
              <a:t>OLA . POWER BI PROJECT</a:t>
            </a:r>
            <a:endParaRPr lang="en-US" sz="900" dirty="0">
              <a:solidFill>
                <a:schemeClr val="bg1"/>
              </a:solidFill>
            </a:endParaRPr>
          </a:p>
        </p:txBody>
      </p:sp>
      <p:sp>
        <p:nvSpPr>
          <p:cNvPr id="24" name="Text 22"/>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A8A8A"/>
                </a:solidFill>
                <a:latin typeface="Arial" pitchFamily="34" charset="0"/>
                <a:ea typeface="Arial" pitchFamily="34" charset="-122"/>
                <a:cs typeface="Arial" pitchFamily="34" charset="-120"/>
              </a:rPr>
              <a:t>06</a:t>
            </a:r>
            <a:endParaRPr lang="en-US" sz="900" dirty="0"/>
          </a:p>
        </p:txBody>
      </p:sp>
      <p:pic>
        <p:nvPicPr>
          <p:cNvPr id="26" name="Picture 25">
            <a:extLst>
              <a:ext uri="{FF2B5EF4-FFF2-40B4-BE49-F238E27FC236}">
                <a16:creationId xmlns:a16="http://schemas.microsoft.com/office/drawing/2014/main" id="{39B54ED5-C326-33F9-B367-14F0C79A9014}"/>
              </a:ext>
            </a:extLst>
          </p:cNvPr>
          <p:cNvPicPr>
            <a:picLocks noChangeAspect="1"/>
          </p:cNvPicPr>
          <p:nvPr/>
        </p:nvPicPr>
        <p:blipFill>
          <a:blip r:embed="rId3"/>
          <a:stretch>
            <a:fillRect/>
          </a:stretch>
        </p:blipFill>
        <p:spPr>
          <a:xfrm>
            <a:off x="9762786" y="41801"/>
            <a:ext cx="2429214" cy="7811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rot="-1080000">
            <a:off x="-2011680" y="1828800"/>
            <a:ext cx="15544800" cy="3657600"/>
          </a:xfrm>
          <a:prstGeom prst="rect">
            <a:avLst/>
          </a:prstGeom>
          <a:noFill/>
          <a:ln/>
        </p:spPr>
        <p:txBody>
          <a:bodyPr wrap="square" lIns="0" tIns="0" rIns="0" bIns="0" rtlCol="0" anchor="ctr"/>
          <a:lstStyle/>
          <a:p>
            <a:pPr marL="0" indent="0" algn="ctr">
              <a:buNone/>
            </a:pPr>
            <a:r>
              <a:rPr lang="en-US" sz="26000" b="1" dirty="0">
                <a:solidFill>
                  <a:srgbClr val="232323"/>
                </a:solidFill>
                <a:latin typeface="Arial Black" pitchFamily="34" charset="0"/>
                <a:ea typeface="Arial Black" pitchFamily="34" charset="-122"/>
                <a:cs typeface="Arial Black" pitchFamily="34" charset="-120"/>
              </a:rPr>
              <a:t>OLA</a:t>
            </a:r>
            <a:endParaRPr lang="en-US" sz="26000" dirty="0"/>
          </a:p>
        </p:txBody>
      </p:sp>
      <p:sp>
        <p:nvSpPr>
          <p:cNvPr id="3" name="Shape 1"/>
          <p:cNvSpPr/>
          <p:nvPr/>
        </p:nvSpPr>
        <p:spPr>
          <a:xfrm>
            <a:off x="110033" y="283464"/>
            <a:ext cx="566928" cy="566928"/>
          </a:xfrm>
          <a:prstGeom prst="roundRect">
            <a:avLst>
              <a:gd name="adj" fmla="val 19355"/>
            </a:avLst>
          </a:prstGeom>
          <a:solidFill>
            <a:srgbClr val="2A2A2A"/>
          </a:solidFill>
          <a:ln/>
        </p:spPr>
      </p:sp>
      <p:sp>
        <p:nvSpPr>
          <p:cNvPr id="4" name="Text 2"/>
          <p:cNvSpPr/>
          <p:nvPr/>
        </p:nvSpPr>
        <p:spPr>
          <a:xfrm>
            <a:off x="110033" y="238880"/>
            <a:ext cx="566928" cy="566928"/>
          </a:xfrm>
          <a:prstGeom prst="rect">
            <a:avLst/>
          </a:prstGeom>
          <a:noFill/>
          <a:ln/>
        </p:spPr>
        <p:txBody>
          <a:bodyPr wrap="square" lIns="0" tIns="0" rIns="0" bIns="0" rtlCol="0" anchor="ctr"/>
          <a:lstStyle/>
          <a:p>
            <a:pPr marL="0" indent="0" algn="ctr">
              <a:buNone/>
            </a:pPr>
            <a:r>
              <a:rPr lang="en-US" sz="1000" b="1" dirty="0">
                <a:solidFill>
                  <a:srgbClr val="C9F031"/>
                </a:solidFill>
                <a:latin typeface="Arial Black" pitchFamily="34" charset="0"/>
                <a:ea typeface="Arial Black" pitchFamily="34" charset="-122"/>
                <a:cs typeface="Arial Black" pitchFamily="34" charset="-120"/>
              </a:rPr>
              <a:t>OLA</a:t>
            </a:r>
            <a:endParaRPr lang="en-US" sz="1000" dirty="0"/>
          </a:p>
        </p:txBody>
      </p:sp>
      <p:sp>
        <p:nvSpPr>
          <p:cNvPr id="5" name="Text 3"/>
          <p:cNvSpPr/>
          <p:nvPr/>
        </p:nvSpPr>
        <p:spPr>
          <a:xfrm>
            <a:off x="0" y="2651760"/>
            <a:ext cx="12191695" cy="1097280"/>
          </a:xfrm>
          <a:prstGeom prst="rect">
            <a:avLst/>
          </a:prstGeom>
          <a:noFill/>
          <a:ln/>
        </p:spPr>
        <p:txBody>
          <a:bodyPr wrap="square" lIns="0" tIns="0" rIns="0" bIns="0" rtlCol="0" anchor="ctr"/>
          <a:lstStyle/>
          <a:p>
            <a:pPr marL="0" indent="0" algn="ctr">
              <a:buNone/>
            </a:pPr>
            <a:r>
              <a:rPr lang="en-US" sz="5400" b="1" dirty="0">
                <a:solidFill>
                  <a:srgbClr val="FFFFFF"/>
                </a:solidFill>
                <a:latin typeface="Georgia" pitchFamily="34" charset="0"/>
                <a:ea typeface="Georgia" pitchFamily="34" charset="-122"/>
                <a:cs typeface="Georgia" pitchFamily="34" charset="-120"/>
              </a:rPr>
              <a:t>Thank You</a:t>
            </a:r>
            <a:endParaRPr lang="en-US" sz="5400" dirty="0"/>
          </a:p>
        </p:txBody>
      </p:sp>
      <p:sp>
        <p:nvSpPr>
          <p:cNvPr id="6" name="Text 4"/>
          <p:cNvSpPr/>
          <p:nvPr/>
        </p:nvSpPr>
        <p:spPr>
          <a:xfrm>
            <a:off x="0" y="3931920"/>
            <a:ext cx="12191695" cy="457200"/>
          </a:xfrm>
          <a:prstGeom prst="rect">
            <a:avLst/>
          </a:prstGeom>
          <a:noFill/>
          <a:ln/>
        </p:spPr>
        <p:txBody>
          <a:bodyPr wrap="square" lIns="0" tIns="0" rIns="0" bIns="0" rtlCol="0" anchor="ctr"/>
          <a:lstStyle/>
          <a:p>
            <a:pPr marL="0" indent="0" algn="ctr">
              <a:buNone/>
            </a:pPr>
            <a:r>
              <a:rPr lang="en-US" sz="1400" dirty="0">
                <a:solidFill>
                  <a:srgbClr val="C7C7C7"/>
                </a:solidFill>
                <a:latin typeface="Arial" pitchFamily="34" charset="0"/>
                <a:ea typeface="Arial" pitchFamily="34" charset="-122"/>
                <a:cs typeface="Arial" pitchFamily="34" charset="-120"/>
              </a:rPr>
              <a:t>Raushan Kant Verma   •   AF Code: AF05261061</a:t>
            </a:r>
            <a:endParaRPr lang="en-US" sz="1400" dirty="0"/>
          </a:p>
        </p:txBody>
      </p:sp>
      <p:sp>
        <p:nvSpPr>
          <p:cNvPr id="7" name="Text 5"/>
          <p:cNvSpPr/>
          <p:nvPr/>
        </p:nvSpPr>
        <p:spPr>
          <a:xfrm>
            <a:off x="457200" y="6473952"/>
            <a:ext cx="7315200" cy="274320"/>
          </a:xfrm>
          <a:prstGeom prst="rect">
            <a:avLst/>
          </a:prstGeom>
          <a:noFill/>
          <a:ln/>
        </p:spPr>
        <p:txBody>
          <a:bodyPr wrap="square" lIns="0" tIns="0" rIns="0" bIns="0" rtlCol="0" anchor="ctr"/>
          <a:lstStyle/>
          <a:p>
            <a:pPr marL="0" indent="0">
              <a:buNone/>
            </a:pPr>
            <a:r>
              <a:rPr lang="en-US" sz="900" kern="0" spc="200" dirty="0">
                <a:solidFill>
                  <a:schemeClr val="bg1"/>
                </a:solidFill>
                <a:latin typeface="Arial" pitchFamily="34" charset="0"/>
                <a:ea typeface="Arial" pitchFamily="34" charset="-122"/>
                <a:cs typeface="Arial" pitchFamily="34" charset="-120"/>
              </a:rPr>
              <a:t>OLA . POWER BI PROJECT</a:t>
            </a:r>
            <a:endParaRPr lang="en-US" sz="900" dirty="0">
              <a:solidFill>
                <a:schemeClr val="bg1"/>
              </a:solidFill>
            </a:endParaRPr>
          </a:p>
        </p:txBody>
      </p:sp>
      <p:sp>
        <p:nvSpPr>
          <p:cNvPr id="8" name="Text 6"/>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8A8A8A"/>
                </a:solidFill>
                <a:latin typeface="Arial" pitchFamily="34" charset="0"/>
                <a:ea typeface="Arial" pitchFamily="34" charset="-122"/>
                <a:cs typeface="Arial" pitchFamily="34" charset="-120"/>
              </a:rPr>
              <a:t>07</a:t>
            </a:r>
            <a:endParaRPr lang="en-US" sz="900" dirty="0"/>
          </a:p>
        </p:txBody>
      </p:sp>
      <p:pic>
        <p:nvPicPr>
          <p:cNvPr id="10" name="Picture 9">
            <a:extLst>
              <a:ext uri="{FF2B5EF4-FFF2-40B4-BE49-F238E27FC236}">
                <a16:creationId xmlns:a16="http://schemas.microsoft.com/office/drawing/2014/main" id="{4C6A59A9-4DC7-D401-CFF7-ED067B804AA2}"/>
              </a:ext>
            </a:extLst>
          </p:cNvPr>
          <p:cNvPicPr>
            <a:picLocks noChangeAspect="1"/>
          </p:cNvPicPr>
          <p:nvPr/>
        </p:nvPicPr>
        <p:blipFill>
          <a:blip r:embed="rId3"/>
          <a:stretch>
            <a:fillRect/>
          </a:stretch>
        </p:blipFill>
        <p:spPr>
          <a:xfrm>
            <a:off x="9762481" y="24649"/>
            <a:ext cx="2429214" cy="7811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802</Words>
  <Application>Microsoft Office PowerPoint</Application>
  <PresentationFormat>Widescreen</PresentationFormat>
  <Paragraphs>112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Arial Black</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Raushan Kant Verma</cp:lastModifiedBy>
  <cp:revision>3</cp:revision>
  <dcterms:created xsi:type="dcterms:W3CDTF">2026-08-20T18:40:08Z</dcterms:created>
  <dcterms:modified xsi:type="dcterms:W3CDTF">2026-08-20T19:24:26Z</dcterms:modified>
</cp:coreProperties>
</file>